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1929" y="719709"/>
            <a:ext cx="577278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2159"/>
            <a:ext cx="767080" cy="533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5080" y="772159"/>
            <a:ext cx="756920" cy="5334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2000" cy="7721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7686" y="-88950"/>
            <a:ext cx="8252459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667" y="1721485"/>
            <a:ext cx="5575300" cy="308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30213694" TargetMode="External"/><Relationship Id="rId4" Type="http://schemas.openxmlformats.org/officeDocument/2006/relationships/hyperlink" Target="https://www.ncbi.nlm.nih.gov/pmc/articles/PMC6132295/" TargetMode="External"/><Relationship Id="rId5" Type="http://schemas.openxmlformats.org/officeDocument/2006/relationships/hyperlink" Target="https://pubmed.ncbi.nlm.nih.gov/30211351" TargetMode="External"/><Relationship Id="rId6" Type="http://schemas.openxmlformats.org/officeDocument/2006/relationships/hyperlink" Target="https://pubmed.ncbi.nlm.nih.gov/30209413" TargetMode="External"/><Relationship Id="rId7" Type="http://schemas.openxmlformats.org/officeDocument/2006/relationships/hyperlink" Target="https://www.ncbi.nlm.nih.gov/pmc/articles/PMC6146200/" TargetMode="External"/><Relationship Id="rId8" Type="http://schemas.openxmlformats.org/officeDocument/2006/relationships/hyperlink" Target="https://pubmed.ncbi.nlm.nih.gov/30179205" TargetMode="External"/><Relationship Id="rId9" Type="http://schemas.openxmlformats.org/officeDocument/2006/relationships/hyperlink" Target="https://www.ncbi.nlm.nih.gov/pmc/articles/PMC6146013/" TargetMode="External"/><Relationship Id="rId10" Type="http://schemas.openxmlformats.org/officeDocument/2006/relationships/hyperlink" Target="https://pubmed.ncbi.nlm.nih.gov/29803938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57211" y="3187699"/>
            <a:ext cx="10124440" cy="678180"/>
          </a:xfrm>
          <a:custGeom>
            <a:avLst/>
            <a:gdLst/>
            <a:ahLst/>
            <a:cxnLst/>
            <a:rect l="l" t="t" r="r" b="b"/>
            <a:pathLst>
              <a:path w="10124440" h="678179">
                <a:moveTo>
                  <a:pt x="4718304" y="0"/>
                </a:moveTo>
                <a:lnTo>
                  <a:pt x="0" y="0"/>
                </a:lnTo>
                <a:lnTo>
                  <a:pt x="0" y="678180"/>
                </a:lnTo>
                <a:lnTo>
                  <a:pt x="4718304" y="678180"/>
                </a:lnTo>
                <a:lnTo>
                  <a:pt x="4718304" y="0"/>
                </a:lnTo>
                <a:close/>
              </a:path>
              <a:path w="10124440" h="678179">
                <a:moveTo>
                  <a:pt x="10123970" y="0"/>
                </a:moveTo>
                <a:lnTo>
                  <a:pt x="4718342" y="0"/>
                </a:lnTo>
                <a:lnTo>
                  <a:pt x="4718342" y="678180"/>
                </a:lnTo>
                <a:lnTo>
                  <a:pt x="10123970" y="678180"/>
                </a:lnTo>
                <a:lnTo>
                  <a:pt x="1012397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702" y="2957829"/>
            <a:ext cx="101555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440" b="1">
                <a:solidFill>
                  <a:srgbClr val="121522"/>
                </a:solidFill>
                <a:latin typeface="Arial"/>
                <a:cs typeface="Arial"/>
              </a:rPr>
              <a:t>DETECTION</a:t>
            </a:r>
            <a:r>
              <a:rPr dirty="0" sz="5400" spc="-100" b="1">
                <a:solidFill>
                  <a:srgbClr val="121522"/>
                </a:solidFill>
                <a:latin typeface="Arial"/>
                <a:cs typeface="Arial"/>
              </a:rPr>
              <a:t> </a:t>
            </a:r>
            <a:r>
              <a:rPr dirty="0" sz="5400" spc="-270" b="1">
                <a:solidFill>
                  <a:srgbClr val="121522"/>
                </a:solidFill>
                <a:latin typeface="Arial"/>
                <a:cs typeface="Arial"/>
              </a:rPr>
              <a:t>OF</a:t>
            </a:r>
            <a:r>
              <a:rPr dirty="0" sz="5400" spc="-90" b="1">
                <a:solidFill>
                  <a:srgbClr val="121522"/>
                </a:solidFill>
                <a:latin typeface="Arial"/>
                <a:cs typeface="Arial"/>
              </a:rPr>
              <a:t> </a:t>
            </a:r>
            <a:r>
              <a:rPr dirty="0" sz="5400" spc="-390" b="1">
                <a:solidFill>
                  <a:srgbClr val="121522"/>
                </a:solidFill>
                <a:latin typeface="Arial"/>
                <a:cs typeface="Arial"/>
              </a:rPr>
              <a:t>OSTEOARTHRITIS</a:t>
            </a:r>
            <a:endParaRPr sz="5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72286" y="4897627"/>
            <a:ext cx="2849880" cy="102425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 marL="144780" marR="137160" indent="-635">
              <a:lnSpc>
                <a:spcPts val="2280"/>
              </a:lnSpc>
              <a:spcBef>
                <a:spcPts val="280"/>
              </a:spcBef>
            </a:pPr>
            <a:r>
              <a:rPr dirty="0" sz="2000" spc="-45" b="1">
                <a:latin typeface="Tahoma"/>
                <a:cs typeface="Tahoma"/>
              </a:rPr>
              <a:t>Submitted</a:t>
            </a:r>
            <a:r>
              <a:rPr dirty="0" sz="2000" spc="-70" b="1">
                <a:latin typeface="Tahoma"/>
                <a:cs typeface="Tahoma"/>
              </a:rPr>
              <a:t> </a:t>
            </a:r>
            <a:r>
              <a:rPr dirty="0" sz="2000" spc="-25" b="1">
                <a:latin typeface="Tahoma"/>
                <a:cs typeface="Tahoma"/>
              </a:rPr>
              <a:t>By: </a:t>
            </a:r>
            <a:r>
              <a:rPr dirty="0" sz="2000" spc="55" b="1">
                <a:latin typeface="Tahoma"/>
                <a:cs typeface="Tahoma"/>
              </a:rPr>
              <a:t>NAME</a:t>
            </a:r>
            <a:r>
              <a:rPr dirty="0" sz="2000" spc="-85" b="1">
                <a:latin typeface="Tahoma"/>
                <a:cs typeface="Tahoma"/>
              </a:rPr>
              <a:t> </a:t>
            </a:r>
            <a:r>
              <a:rPr dirty="0" sz="2000" spc="-160" b="1">
                <a:latin typeface="Tahoma"/>
                <a:cs typeface="Tahoma"/>
              </a:rPr>
              <a:t>:-</a:t>
            </a:r>
            <a:r>
              <a:rPr dirty="0" u="sng" sz="2000" spc="-220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YASH</a:t>
            </a:r>
            <a:r>
              <a:rPr dirty="0" u="sng" sz="2000" spc="-165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2000" spc="-220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SINGH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2000" spc="-90" b="1">
                <a:latin typeface="Tahoma"/>
                <a:cs typeface="Tahoma"/>
              </a:rPr>
              <a:t>REG-</a:t>
            </a:r>
            <a:r>
              <a:rPr dirty="0" sz="2000" spc="-30" b="1">
                <a:latin typeface="Tahoma"/>
                <a:cs typeface="Tahoma"/>
              </a:rPr>
              <a:t>NO:-</a:t>
            </a:r>
            <a:r>
              <a:rPr dirty="0" sz="2000" spc="-10" b="1">
                <a:latin typeface="Tahoma"/>
                <a:cs typeface="Tahoma"/>
              </a:rPr>
              <a:t>2427030760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27618" y="4867782"/>
            <a:ext cx="2736850" cy="104965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L="12700" marR="5080" indent="-1270">
              <a:lnSpc>
                <a:spcPts val="2590"/>
              </a:lnSpc>
              <a:spcBef>
                <a:spcPts val="425"/>
              </a:spcBef>
            </a:pPr>
            <a:r>
              <a:rPr dirty="0" sz="2400" spc="-35" b="1">
                <a:latin typeface="Tahoma"/>
                <a:cs typeface="Tahoma"/>
              </a:rPr>
              <a:t>Supervised</a:t>
            </a:r>
            <a:r>
              <a:rPr dirty="0" sz="2400" spc="-105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By: </a:t>
            </a:r>
            <a:r>
              <a:rPr dirty="0" u="sng" sz="2400" spc="-275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DR.TAPAN</a:t>
            </a:r>
            <a:r>
              <a:rPr dirty="0" u="sng" sz="2400" spc="-225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2400" spc="-165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KUMAR</a:t>
            </a:r>
            <a:r>
              <a:rPr dirty="0" sz="2400" spc="-165" b="1" i="1">
                <a:latin typeface="Verdana"/>
                <a:cs typeface="Verdana"/>
              </a:rPr>
              <a:t> </a:t>
            </a:r>
            <a:r>
              <a:rPr dirty="0" u="sng" sz="2400" spc="-25" b="1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DEY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06" y="-50"/>
            <a:ext cx="3127248" cy="91610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16911" y="1247622"/>
            <a:ext cx="7764780" cy="1056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5925">
              <a:lnSpc>
                <a:spcPct val="130000"/>
              </a:lnSpc>
              <a:spcBef>
                <a:spcPts val="100"/>
              </a:spcBef>
            </a:pPr>
            <a:r>
              <a:rPr dirty="0" sz="2600" spc="-105">
                <a:latin typeface="Arial"/>
                <a:cs typeface="Arial"/>
              </a:rPr>
              <a:t>School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of</a:t>
            </a:r>
            <a:r>
              <a:rPr dirty="0" sz="2600" spc="-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Computer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 spc="-135">
                <a:latin typeface="Arial"/>
                <a:cs typeface="Arial"/>
              </a:rPr>
              <a:t>Science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and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Engineering </a:t>
            </a:r>
            <a:r>
              <a:rPr dirty="0" sz="2600">
                <a:latin typeface="Arial"/>
                <a:cs typeface="Arial"/>
              </a:rPr>
              <a:t>Department</a:t>
            </a:r>
            <a:r>
              <a:rPr dirty="0" sz="2600" spc="-1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of</a:t>
            </a:r>
            <a:r>
              <a:rPr dirty="0" sz="2600" spc="10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Computer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130">
                <a:latin typeface="Arial"/>
                <a:cs typeface="Arial"/>
              </a:rPr>
              <a:t>Science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and</a:t>
            </a:r>
            <a:r>
              <a:rPr dirty="0" sz="2600" spc="1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Engineering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605" y="812368"/>
            <a:ext cx="2435225" cy="8801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5600" spc="-45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Arial"/>
                <a:cs typeface="Arial"/>
              </a:rPr>
              <a:t>Outline</a:t>
            </a:r>
            <a:endParaRPr sz="5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939" y="1710111"/>
            <a:ext cx="6028690" cy="251587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140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spc="-20" b="1">
                <a:latin typeface="Arial"/>
                <a:cs typeface="Arial"/>
              </a:rPr>
              <a:t>Introduction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155" b="1">
                <a:latin typeface="Arial"/>
                <a:cs typeface="Arial"/>
              </a:rPr>
              <a:t>To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121522"/>
                </a:solidFill>
                <a:latin typeface="Tahoma"/>
                <a:cs typeface="Tahoma"/>
              </a:rPr>
              <a:t>OSTEOARTHRITIS</a:t>
            </a:r>
            <a:endParaRPr sz="2400">
              <a:latin typeface="Tahoma"/>
              <a:cs typeface="Tahoma"/>
            </a:endParaRPr>
          </a:p>
          <a:p>
            <a:pPr marL="283845" indent="-273050">
              <a:lnSpc>
                <a:spcPct val="100000"/>
              </a:lnSpc>
              <a:spcBef>
                <a:spcPts val="104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845" algn="l"/>
              </a:tabLst>
            </a:pPr>
            <a:r>
              <a:rPr dirty="0" sz="2400" spc="-120" b="1">
                <a:latin typeface="Tahoma"/>
                <a:cs typeface="Tahoma"/>
              </a:rPr>
              <a:t>LITERATURE</a:t>
            </a:r>
            <a:r>
              <a:rPr dirty="0" sz="2400" spc="-1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REVIEW</a:t>
            </a:r>
            <a:endParaRPr sz="2400">
              <a:latin typeface="Tahoma"/>
              <a:cs typeface="Tahoma"/>
            </a:endParaRPr>
          </a:p>
          <a:p>
            <a:pPr marL="283210" indent="-273050">
              <a:lnSpc>
                <a:spcPct val="100000"/>
              </a:lnSpc>
              <a:spcBef>
                <a:spcPts val="103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spc="-45" b="1">
                <a:latin typeface="Arial"/>
                <a:cs typeface="Arial"/>
              </a:rPr>
              <a:t>Detection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Disease</a:t>
            </a:r>
            <a:endParaRPr sz="2400">
              <a:latin typeface="Arial"/>
              <a:cs typeface="Arial"/>
            </a:endParaRPr>
          </a:p>
          <a:p>
            <a:pPr marL="283210" indent="-273050">
              <a:lnSpc>
                <a:spcPct val="100000"/>
              </a:lnSpc>
              <a:spcBef>
                <a:spcPts val="1040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b="1">
                <a:latin typeface="Arial"/>
                <a:cs typeface="Arial"/>
              </a:rPr>
              <a:t>Image</a:t>
            </a:r>
            <a:r>
              <a:rPr dirty="0" sz="2400" spc="50" b="1">
                <a:latin typeface="Arial"/>
                <a:cs typeface="Arial"/>
              </a:rPr>
              <a:t> </a:t>
            </a:r>
            <a:r>
              <a:rPr dirty="0" sz="2400" spc="-55" b="1">
                <a:latin typeface="Arial"/>
                <a:cs typeface="Arial"/>
              </a:rPr>
              <a:t>Recognition</a:t>
            </a:r>
            <a:r>
              <a:rPr dirty="0" sz="2400" spc="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40" b="1">
                <a:latin typeface="Arial"/>
                <a:cs typeface="Arial"/>
              </a:rPr>
              <a:t> </a:t>
            </a:r>
            <a:r>
              <a:rPr dirty="0" sz="2400" spc="-30" b="1">
                <a:latin typeface="Arial"/>
                <a:cs typeface="Arial"/>
              </a:rPr>
              <a:t>detect</a:t>
            </a:r>
            <a:r>
              <a:rPr dirty="0" sz="2400" spc="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early-</a:t>
            </a:r>
            <a:r>
              <a:rPr dirty="0" sz="2400" spc="-10" b="1">
                <a:latin typeface="Arial"/>
                <a:cs typeface="Arial"/>
              </a:rPr>
              <a:t>stage</a:t>
            </a:r>
            <a:endParaRPr sz="2400">
              <a:latin typeface="Arial"/>
              <a:cs typeface="Arial"/>
            </a:endParaRPr>
          </a:p>
          <a:p>
            <a:pPr marL="283210" indent="-273050">
              <a:lnSpc>
                <a:spcPct val="100000"/>
              </a:lnSpc>
              <a:spcBef>
                <a:spcPts val="104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b="1">
                <a:latin typeface="Arial"/>
                <a:cs typeface="Arial"/>
              </a:rPr>
              <a:t>CNN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Models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analysis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78560" y="424016"/>
            <a:ext cx="10601960" cy="6442075"/>
          </a:xfrm>
          <a:prstGeom prst="rect">
            <a:avLst/>
          </a:prstGeom>
        </p:spPr>
        <p:txBody>
          <a:bodyPr wrap="square" lIns="0" tIns="327025" rIns="0" bIns="0" rtlCol="0" vert="horz">
            <a:spAutoFit/>
          </a:bodyPr>
          <a:lstStyle/>
          <a:p>
            <a:pPr marL="476250" indent="-454025">
              <a:lnSpc>
                <a:spcPct val="100000"/>
              </a:lnSpc>
              <a:spcBef>
                <a:spcPts val="2575"/>
              </a:spcBef>
              <a:buSzPct val="97500"/>
              <a:buFont typeface="Wingdings"/>
              <a:buChar char=""/>
              <a:tabLst>
                <a:tab pos="476250" algn="l"/>
              </a:tabLst>
            </a:pPr>
            <a:r>
              <a:rPr dirty="0" sz="4000" spc="-405" b="1">
                <a:latin typeface="Arial"/>
                <a:cs typeface="Arial"/>
              </a:rPr>
              <a:t>LITERATURE</a:t>
            </a:r>
            <a:r>
              <a:rPr dirty="0" sz="4000" spc="60" b="1">
                <a:latin typeface="Arial"/>
                <a:cs typeface="Arial"/>
              </a:rPr>
              <a:t> </a:t>
            </a:r>
            <a:r>
              <a:rPr dirty="0" sz="4000" spc="-20" b="1">
                <a:latin typeface="Arial"/>
                <a:cs typeface="Arial"/>
              </a:rPr>
              <a:t>REVIEW</a:t>
            </a:r>
            <a:endParaRPr sz="400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1115"/>
              </a:spcBef>
            </a:pPr>
            <a:r>
              <a:rPr dirty="0" sz="1800" spc="-70" b="1">
                <a:latin typeface="Tahoma"/>
                <a:cs typeface="Tahoma"/>
              </a:rPr>
              <a:t>REFER</a:t>
            </a:r>
            <a:r>
              <a:rPr dirty="0" sz="1800" spc="-35" b="1">
                <a:latin typeface="Tahoma"/>
                <a:cs typeface="Tahoma"/>
              </a:rPr>
              <a:t> </a:t>
            </a:r>
            <a:r>
              <a:rPr dirty="0" sz="1800" spc="-135" b="1">
                <a:latin typeface="Tahoma"/>
                <a:cs typeface="Tahoma"/>
              </a:rPr>
              <a:t>:-</a:t>
            </a:r>
            <a:r>
              <a:rPr dirty="0" sz="1800" spc="-5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2024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4th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International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Conference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80">
                <a:latin typeface="Tahoma"/>
                <a:cs typeface="Tahoma"/>
              </a:rPr>
              <a:t>on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80">
                <a:latin typeface="Tahoma"/>
                <a:cs typeface="Tahoma"/>
              </a:rPr>
              <a:t>Advanced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Research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80">
                <a:latin typeface="Tahoma"/>
                <a:cs typeface="Tahoma"/>
              </a:rPr>
              <a:t>Computing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(ICARC)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95000"/>
              </a:lnSpc>
              <a:spcBef>
                <a:spcPts val="1660"/>
              </a:spcBef>
            </a:pPr>
            <a:r>
              <a:rPr dirty="0" sz="2400" spc="55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thorough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history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and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physical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-140">
                <a:latin typeface="Tahoma"/>
                <a:cs typeface="Tahoma"/>
              </a:rPr>
              <a:t>exam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35">
                <a:latin typeface="Tahoma"/>
                <a:cs typeface="Tahoma"/>
              </a:rPr>
              <a:t>(with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focused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musculoskeletal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180">
                <a:latin typeface="Tahoma"/>
                <a:cs typeface="Tahoma"/>
              </a:rPr>
              <a:t>exam)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should </a:t>
            </a:r>
            <a:r>
              <a:rPr dirty="0" sz="2400" spc="-50">
                <a:latin typeface="Tahoma"/>
                <a:cs typeface="Tahoma"/>
              </a:rPr>
              <a:t>be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performed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on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all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patients,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with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some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findings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summarized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above.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Osteoarthritis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 spc="-95">
                <a:latin typeface="Tahoma"/>
                <a:cs typeface="Tahoma"/>
              </a:rPr>
              <a:t>a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clinical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-60">
                <a:latin typeface="Tahoma"/>
                <a:cs typeface="Tahoma"/>
              </a:rPr>
              <a:t>diagnosis</a:t>
            </a:r>
            <a:r>
              <a:rPr dirty="0" sz="2400" spc="-15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and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can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30">
                <a:latin typeface="Tahoma"/>
                <a:cs typeface="Tahoma"/>
              </a:rPr>
              <a:t>be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diagnosed</a:t>
            </a:r>
            <a:r>
              <a:rPr dirty="0" sz="2400" spc="-15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with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confidence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19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the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following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 </a:t>
            </a:r>
            <a:r>
              <a:rPr dirty="0" sz="2400" spc="-130">
                <a:latin typeface="Tahoma"/>
                <a:cs typeface="Tahoma"/>
              </a:rPr>
              <a:t>present: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pain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worse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with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activity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and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better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with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rest,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age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20">
                <a:latin typeface="Tahoma"/>
                <a:cs typeface="Tahoma"/>
              </a:rPr>
              <a:t>more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than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45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years, </a:t>
            </a:r>
            <a:r>
              <a:rPr dirty="0" sz="2400" spc="-75">
                <a:latin typeface="Tahoma"/>
                <a:cs typeface="Tahoma"/>
              </a:rPr>
              <a:t>morning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stiffness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lasting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less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than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30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minutes, </a:t>
            </a:r>
            <a:r>
              <a:rPr dirty="0" sz="2400" spc="-75">
                <a:latin typeface="Tahoma"/>
                <a:cs typeface="Tahoma"/>
              </a:rPr>
              <a:t>bony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joint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20">
                <a:latin typeface="Tahoma"/>
                <a:cs typeface="Tahoma"/>
              </a:rPr>
              <a:t>enlargement,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and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limitation </a:t>
            </a:r>
            <a:r>
              <a:rPr dirty="0" sz="2400" spc="-45">
                <a:latin typeface="Tahoma"/>
                <a:cs typeface="Tahoma"/>
              </a:rPr>
              <a:t>in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range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204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motion.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A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differential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diagnosis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should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include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rheumatoid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arthritis, </a:t>
            </a:r>
            <a:r>
              <a:rPr dirty="0" sz="2400" spc="-65">
                <a:latin typeface="Tahoma"/>
                <a:cs typeface="Tahoma"/>
              </a:rPr>
              <a:t>psoriatic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arthritis,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crystalline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arthritis,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hemochromatosis,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bursitis,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avascular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necrosis, </a:t>
            </a:r>
            <a:r>
              <a:rPr dirty="0" sz="2400" spc="-90">
                <a:latin typeface="Tahoma"/>
                <a:cs typeface="Tahoma"/>
              </a:rPr>
              <a:t>tendinitis,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and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radiculopathy,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among </a:t>
            </a:r>
            <a:r>
              <a:rPr dirty="0" sz="2400" spc="-85">
                <a:latin typeface="Tahoma"/>
                <a:cs typeface="Tahoma"/>
              </a:rPr>
              <a:t>other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80">
                <a:latin typeface="Tahoma"/>
                <a:cs typeface="Tahoma"/>
              </a:rPr>
              <a:t>soft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tissue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abnormalitiesn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Blood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tests </a:t>
            </a:r>
            <a:r>
              <a:rPr dirty="0" sz="2400" spc="-95">
                <a:latin typeface="Tahoma"/>
                <a:cs typeface="Tahoma"/>
              </a:rPr>
              <a:t>such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as </a:t>
            </a:r>
            <a:r>
              <a:rPr dirty="0" sz="2400" spc="-85">
                <a:latin typeface="Tahoma"/>
                <a:cs typeface="Tahoma"/>
              </a:rPr>
              <a:t>complete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45">
                <a:latin typeface="Tahoma"/>
                <a:cs typeface="Tahoma"/>
              </a:rPr>
              <a:t>blood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14">
                <a:latin typeface="Tahoma"/>
                <a:cs typeface="Tahoma"/>
              </a:rPr>
              <a:t>count,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erythrocyte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sedimentation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25">
                <a:latin typeface="Tahoma"/>
                <a:cs typeface="Tahoma"/>
              </a:rPr>
              <a:t>rate,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rheumatoid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factor, </a:t>
            </a:r>
            <a:r>
              <a:rPr dirty="0" sz="2400" spc="-90">
                <a:latin typeface="Tahoma"/>
                <a:cs typeface="Tahoma"/>
              </a:rPr>
              <a:t>and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antinuclear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antibody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75">
                <a:latin typeface="Tahoma"/>
                <a:cs typeface="Tahoma"/>
              </a:rPr>
              <a:t>test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are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usually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normal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45">
                <a:latin typeface="Tahoma"/>
                <a:cs typeface="Tahoma"/>
              </a:rPr>
              <a:t>in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osteoarthritis.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165">
                <a:latin typeface="Tahoma"/>
                <a:cs typeface="Tahoma"/>
              </a:rPr>
              <a:t>However,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they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may </a:t>
            </a:r>
            <a:r>
              <a:rPr dirty="0" sz="2400" spc="-50">
                <a:latin typeface="Tahoma"/>
                <a:cs typeface="Tahoma"/>
              </a:rPr>
              <a:t>be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ordered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to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rule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out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inflammatory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arthritis.</a:t>
            </a:r>
            <a:r>
              <a:rPr dirty="0" sz="2400" spc="-160">
                <a:latin typeface="Tahoma"/>
                <a:cs typeface="Tahoma"/>
              </a:rPr>
              <a:t> </a:t>
            </a:r>
            <a:r>
              <a:rPr dirty="0" sz="2400" spc="-130">
                <a:latin typeface="Tahoma"/>
                <a:cs typeface="Tahoma"/>
              </a:rPr>
              <a:t>If</a:t>
            </a:r>
            <a:r>
              <a:rPr dirty="0" sz="2400" spc="18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the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synovial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fluid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is</a:t>
            </a:r>
            <a:r>
              <a:rPr dirty="0" sz="2400" spc="-140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obtained,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 spc="-95">
                <a:latin typeface="Tahoma"/>
                <a:cs typeface="Tahoma"/>
              </a:rPr>
              <a:t>white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blood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cell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0">
                <a:latin typeface="Tahoma"/>
                <a:cs typeface="Tahoma"/>
              </a:rPr>
              <a:t>count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should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30">
                <a:latin typeface="Tahoma"/>
                <a:cs typeface="Tahoma"/>
              </a:rPr>
              <a:t>be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70">
                <a:latin typeface="Tahoma"/>
                <a:cs typeface="Tahoma"/>
              </a:rPr>
              <a:t>less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than </a:t>
            </a:r>
            <a:r>
              <a:rPr dirty="0" sz="2400" spc="-25">
                <a:latin typeface="Tahoma"/>
                <a:cs typeface="Tahoma"/>
              </a:rPr>
              <a:t>2000/micro</a:t>
            </a:r>
            <a:r>
              <a:rPr dirty="0" sz="2400" spc="-13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L, </a:t>
            </a:r>
            <a:r>
              <a:rPr dirty="0" sz="2400" spc="-10">
                <a:latin typeface="Tahoma"/>
                <a:cs typeface="Tahoma"/>
              </a:rPr>
              <a:t>predominantly </a:t>
            </a:r>
            <a:r>
              <a:rPr dirty="0" sz="2400" spc="-95">
                <a:latin typeface="Tahoma"/>
                <a:cs typeface="Tahoma"/>
              </a:rPr>
              <a:t>mononuclear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cells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55">
                <a:latin typeface="Tahoma"/>
                <a:cs typeface="Tahoma"/>
              </a:rPr>
              <a:t>(non-</a:t>
            </a:r>
            <a:r>
              <a:rPr dirty="0" sz="2400" spc="-130">
                <a:latin typeface="Tahoma"/>
                <a:cs typeface="Tahoma"/>
              </a:rPr>
              <a:t>inflammatory),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which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85">
                <a:latin typeface="Tahoma"/>
                <a:cs typeface="Tahoma"/>
              </a:rPr>
              <a:t>consistent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with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95">
                <a:latin typeface="Tahoma"/>
                <a:cs typeface="Tahoma"/>
              </a:rPr>
              <a:t>a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diagnosis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of </a:t>
            </a:r>
            <a:r>
              <a:rPr dirty="0" sz="2400" spc="-20">
                <a:latin typeface="Tahoma"/>
                <a:cs typeface="Tahoma"/>
              </a:rPr>
              <a:t>osteoarthritis.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11174" y="800019"/>
            <a:ext cx="10508615" cy="606869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550"/>
              </a:spcBef>
              <a:buSzPct val="96428"/>
              <a:buFont typeface="Wingdings"/>
              <a:buChar char=""/>
              <a:tabLst>
                <a:tab pos="328930" algn="l"/>
              </a:tabLst>
            </a:pPr>
            <a:r>
              <a:rPr dirty="0" sz="2800" spc="-150" b="1">
                <a:latin typeface="Tahoma"/>
                <a:cs typeface="Tahoma"/>
              </a:rPr>
              <a:t>LITERATURE</a:t>
            </a:r>
            <a:r>
              <a:rPr dirty="0" sz="2800" spc="10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REVIEW</a:t>
            </a:r>
            <a:endParaRPr sz="2800">
              <a:latin typeface="Tahoma"/>
              <a:cs typeface="Tahoma"/>
            </a:endParaRPr>
          </a:p>
          <a:p>
            <a:pPr marL="12700" marR="334010">
              <a:lnSpc>
                <a:spcPct val="100000"/>
              </a:lnSpc>
              <a:spcBef>
                <a:spcPts val="235"/>
              </a:spcBef>
            </a:pPr>
            <a:r>
              <a:rPr dirty="0" sz="1400" spc="-65" b="1">
                <a:latin typeface="Tahoma"/>
                <a:cs typeface="Tahoma"/>
              </a:rPr>
              <a:t>REFER:-</a:t>
            </a:r>
            <a:r>
              <a:rPr dirty="0" sz="1400" spc="70" b="1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Intelligent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Systems</a:t>
            </a:r>
            <a:r>
              <a:rPr dirty="0" sz="1400" spc="6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and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Analytics</a:t>
            </a:r>
            <a:r>
              <a:rPr dirty="0" sz="1400" spc="60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(ISA)</a:t>
            </a:r>
            <a:r>
              <a:rPr dirty="0" sz="1400" spc="7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Research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Group,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Department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of</a:t>
            </a:r>
            <a:r>
              <a:rPr dirty="0" sz="1400" spc="105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Computer</a:t>
            </a:r>
            <a:r>
              <a:rPr dirty="0" sz="1400" spc="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Science</a:t>
            </a:r>
            <a:r>
              <a:rPr dirty="0" sz="1400" spc="20">
                <a:latin typeface="Tahoma"/>
                <a:cs typeface="Tahoma"/>
              </a:rPr>
              <a:t> </a:t>
            </a:r>
            <a:r>
              <a:rPr dirty="0" sz="1400" spc="-100">
                <a:latin typeface="Tahoma"/>
                <a:cs typeface="Tahoma"/>
              </a:rPr>
              <a:t>(IDI),</a:t>
            </a:r>
            <a:r>
              <a:rPr dirty="0" sz="1400" spc="2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Norwegian</a:t>
            </a:r>
            <a:r>
              <a:rPr dirty="0" sz="1400" spc="9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University </a:t>
            </a:r>
            <a:r>
              <a:rPr dirty="0" sz="1400">
                <a:latin typeface="Tahoma"/>
                <a:cs typeface="Tahoma"/>
              </a:rPr>
              <a:t>of</a:t>
            </a:r>
            <a:r>
              <a:rPr dirty="0" sz="1400" spc="8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Science</a:t>
            </a:r>
            <a:r>
              <a:rPr dirty="0" sz="1400" spc="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and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Technology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(NTNU),</a:t>
            </a:r>
            <a:r>
              <a:rPr dirty="0" sz="1400" spc="49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Norway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2730"/>
              </a:lnSpc>
            </a:pPr>
            <a:r>
              <a:rPr dirty="0" sz="2400" spc="-10">
                <a:latin typeface="Tahoma"/>
                <a:cs typeface="Tahoma"/>
              </a:rPr>
              <a:t>X-rays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of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affected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joint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show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findings</a:t>
            </a:r>
            <a:r>
              <a:rPr dirty="0" sz="2400">
                <a:latin typeface="Tahoma"/>
                <a:cs typeface="Tahoma"/>
              </a:rPr>
              <a:t> consistent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osteoarthritis,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marginal</a:t>
            </a:r>
            <a:r>
              <a:rPr dirty="0" sz="2400" spc="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osteophytes,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joint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space</a:t>
            </a:r>
            <a:r>
              <a:rPr dirty="0" sz="2400" spc="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narrowing,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subchondral</a:t>
            </a:r>
            <a:r>
              <a:rPr dirty="0" sz="2400" spc="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sclerosis, </a:t>
            </a:r>
            <a:r>
              <a:rPr dirty="0" sz="2400" spc="85">
                <a:latin typeface="Tahoma"/>
                <a:cs typeface="Tahoma"/>
              </a:rPr>
              <a:t>and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30">
                <a:latin typeface="Tahoma"/>
                <a:cs typeface="Tahoma"/>
              </a:rPr>
              <a:t>cysts;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radiographic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findings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180">
                <a:latin typeface="Tahoma"/>
                <a:cs typeface="Tahoma"/>
              </a:rPr>
              <a:t>do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not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correlate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to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severity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25">
                <a:latin typeface="Tahoma"/>
                <a:cs typeface="Tahoma"/>
              </a:rPr>
              <a:t>of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disease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and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not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155">
                <a:latin typeface="Tahoma"/>
                <a:cs typeface="Tahoma"/>
              </a:rPr>
              <a:t>be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present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early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disease.</a:t>
            </a:r>
            <a:r>
              <a:rPr dirty="0" sz="2400" spc="-15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MRI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not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routinely </a:t>
            </a:r>
            <a:r>
              <a:rPr dirty="0" sz="2400" spc="65">
                <a:latin typeface="Tahoma"/>
                <a:cs typeface="Tahoma"/>
              </a:rPr>
              <a:t>indicated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osteoarthritis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workup;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detect</a:t>
            </a:r>
            <a:r>
              <a:rPr dirty="0" sz="2400" spc="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osteoarthritis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at </a:t>
            </a:r>
            <a:r>
              <a:rPr dirty="0" sz="2400">
                <a:latin typeface="Tahoma"/>
                <a:cs typeface="Tahoma"/>
              </a:rPr>
              <a:t>earlier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stages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normal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radiographs.</a:t>
            </a:r>
            <a:r>
              <a:rPr dirty="0" sz="2400" spc="-16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Ultrasound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also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identify</a:t>
            </a:r>
            <a:r>
              <a:rPr dirty="0" sz="2400" spc="6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synovial</a:t>
            </a:r>
            <a:r>
              <a:rPr dirty="0" sz="2400" spc="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inflammation,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effusion,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and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osteophytes,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 spc="155">
                <a:latin typeface="Tahoma"/>
                <a:cs typeface="Tahoma"/>
              </a:rPr>
              <a:t>be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related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 spc="3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osteoarthritis.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There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several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classification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systems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osteoarthritis.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In </a:t>
            </a:r>
            <a:r>
              <a:rPr dirty="0" sz="2400">
                <a:latin typeface="Tahoma"/>
                <a:cs typeface="Tahoma"/>
              </a:rPr>
              <a:t>general,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include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effects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on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joints,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age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of</a:t>
            </a:r>
            <a:r>
              <a:rPr dirty="0" sz="2400">
                <a:latin typeface="Tahoma"/>
                <a:cs typeface="Tahoma"/>
              </a:rPr>
              <a:t> onset,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radiographic </a:t>
            </a:r>
            <a:r>
              <a:rPr dirty="0" sz="2400" spc="55">
                <a:latin typeface="Tahoma"/>
                <a:cs typeface="Tahoma"/>
              </a:rPr>
              <a:t>appearance,</a:t>
            </a:r>
            <a:r>
              <a:rPr dirty="0" sz="2400" spc="-16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presumed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etiology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(primary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secondary),</a:t>
            </a:r>
            <a:r>
              <a:rPr dirty="0" sz="2400" spc="-17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and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rate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25">
                <a:latin typeface="Tahoma"/>
                <a:cs typeface="Tahoma"/>
              </a:rPr>
              <a:t>of </a:t>
            </a:r>
            <a:r>
              <a:rPr dirty="0" sz="2400" spc="50">
                <a:latin typeface="Tahoma"/>
                <a:cs typeface="Tahoma"/>
              </a:rPr>
              <a:t>progression.</a:t>
            </a:r>
            <a:r>
              <a:rPr dirty="0" sz="2400" spc="-2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American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125">
                <a:latin typeface="Tahoma"/>
                <a:cs typeface="Tahoma"/>
              </a:rPr>
              <a:t>College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Rheumatology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classification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 spc="50">
                <a:latin typeface="Tahoma"/>
                <a:cs typeface="Tahoma"/>
              </a:rPr>
              <a:t>most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widely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used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classification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system.</a:t>
            </a:r>
            <a:r>
              <a:rPr dirty="0" sz="2400" spc="-21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At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time,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not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possible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35">
                <a:latin typeface="Tahoma"/>
                <a:cs typeface="Tahoma"/>
              </a:rPr>
              <a:t>to </a:t>
            </a:r>
            <a:r>
              <a:rPr dirty="0" sz="2400" spc="70">
                <a:latin typeface="Tahoma"/>
                <a:cs typeface="Tahoma"/>
              </a:rPr>
              <a:t>predict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patients</a:t>
            </a:r>
            <a:r>
              <a:rPr dirty="0" sz="2400" spc="3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progress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to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severe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osteoarthritis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and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patients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their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disease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arrest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at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earlier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stages.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460748" y="2477134"/>
            <a:ext cx="5613400" cy="372110"/>
          </a:xfrm>
          <a:custGeom>
            <a:avLst/>
            <a:gdLst/>
            <a:ahLst/>
            <a:cxnLst/>
            <a:rect l="l" t="t" r="r" b="b"/>
            <a:pathLst>
              <a:path w="5613400" h="372110">
                <a:moveTo>
                  <a:pt x="5612892" y="0"/>
                </a:moveTo>
                <a:lnTo>
                  <a:pt x="5612892" y="0"/>
                </a:lnTo>
                <a:lnTo>
                  <a:pt x="0" y="0"/>
                </a:lnTo>
                <a:lnTo>
                  <a:pt x="0" y="371856"/>
                </a:lnTo>
                <a:lnTo>
                  <a:pt x="5612892" y="371856"/>
                </a:lnTo>
                <a:lnTo>
                  <a:pt x="56128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40739" y="756665"/>
            <a:ext cx="10471150" cy="606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 spc="-40" b="1">
                <a:latin typeface="Arial"/>
                <a:cs typeface="Arial"/>
              </a:rPr>
              <a:t>Detection</a:t>
            </a:r>
            <a:r>
              <a:rPr dirty="0" sz="3200" spc="-7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of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Disease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4000" b="1">
                <a:solidFill>
                  <a:srgbClr val="1B1C1D"/>
                </a:solidFill>
                <a:latin typeface="Calibri"/>
                <a:cs typeface="Calibri"/>
              </a:rPr>
              <a:t>Current</a:t>
            </a:r>
            <a:r>
              <a:rPr dirty="0" sz="4000" spc="-220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1B1C1D"/>
                </a:solidFill>
                <a:latin typeface="Calibri"/>
                <a:cs typeface="Calibri"/>
              </a:rPr>
              <a:t>Diagnostic</a:t>
            </a:r>
            <a:r>
              <a:rPr dirty="0" sz="4000" spc="-19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1B1C1D"/>
                </a:solidFill>
                <a:latin typeface="Calibri"/>
                <a:cs typeface="Calibri"/>
              </a:rPr>
              <a:t>Technology</a:t>
            </a:r>
            <a:endParaRPr sz="4000">
              <a:latin typeface="Calibri"/>
              <a:cs typeface="Calibri"/>
            </a:endParaRPr>
          </a:p>
          <a:p>
            <a:pPr marL="12700" marR="187960">
              <a:lnSpc>
                <a:spcPct val="114100"/>
              </a:lnSpc>
              <a:spcBef>
                <a:spcPts val="819"/>
              </a:spcBef>
            </a:pP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"gold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standard"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diagnosing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osteoporosis</a:t>
            </a:r>
            <a:r>
              <a:rPr dirty="0" sz="2400" spc="-3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dirty="0" sz="2400" spc="-4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mineral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density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(BMD)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test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using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machine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called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Dual-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Energy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B1C1D"/>
                </a:solidFill>
                <a:latin typeface="Calibri"/>
                <a:cs typeface="Calibri"/>
              </a:rPr>
              <a:t>X-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ray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Absorptiometry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(DXA)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scan.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B1C1D"/>
                </a:solidFill>
                <a:latin typeface="Calibri"/>
                <a:cs typeface="Calibri"/>
              </a:rPr>
              <a:t>This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non-invasive</a:t>
            </a:r>
            <a:r>
              <a:rPr dirty="0" sz="2400" spc="-3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test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measures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amount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mineral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specific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bones,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typically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B1C1D"/>
                </a:solidFill>
                <a:latin typeface="Calibri"/>
                <a:cs typeface="Calibri"/>
              </a:rPr>
              <a:t>the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hip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spine,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determine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density.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Other</a:t>
            </a:r>
            <a:r>
              <a:rPr dirty="0" sz="2400" spc="-8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emerging</a:t>
            </a:r>
            <a:r>
              <a:rPr dirty="0" sz="2400" spc="-9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technologies</a:t>
            </a:r>
            <a:r>
              <a:rPr dirty="0" sz="2400" spc="-9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include:</a:t>
            </a:r>
            <a:endParaRPr sz="2400">
              <a:latin typeface="Calibri"/>
              <a:cs typeface="Calibri"/>
            </a:endParaRPr>
          </a:p>
          <a:p>
            <a:pPr marL="355600" marR="75565" indent="-343535">
              <a:lnSpc>
                <a:spcPct val="113999"/>
              </a:lnSpc>
              <a:spcBef>
                <a:spcPts val="595"/>
              </a:spcBef>
              <a:buClr>
                <a:srgbClr val="000000"/>
              </a:buClr>
              <a:buSzPct val="45833"/>
              <a:buFont typeface="Microsoft Sans Serif"/>
              <a:buChar char="●"/>
              <a:tabLst>
                <a:tab pos="355600" algn="l"/>
              </a:tabLst>
            </a:pPr>
            <a:r>
              <a:rPr dirty="0" sz="2400" spc="-10" b="1">
                <a:solidFill>
                  <a:srgbClr val="1B1C1D"/>
                </a:solidFill>
                <a:latin typeface="Calibri"/>
                <a:cs typeface="Calibri"/>
              </a:rPr>
              <a:t>Quantitative</a:t>
            </a:r>
            <a:r>
              <a:rPr dirty="0" sz="2400" spc="-3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Ultrasound</a:t>
            </a:r>
            <a:r>
              <a:rPr dirty="0" sz="2400" spc="-6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(QUS):</a:t>
            </a:r>
            <a:r>
              <a:rPr dirty="0" sz="2400" spc="-5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non-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ionizing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method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uses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sound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waves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B1C1D"/>
                </a:solidFill>
                <a:latin typeface="Calibri"/>
                <a:cs typeface="Calibri"/>
              </a:rPr>
              <a:t>to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assess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dirty="0" sz="2400" spc="-4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B1C1D"/>
                </a:solidFill>
                <a:latin typeface="Calibri"/>
                <a:cs typeface="Calibri"/>
              </a:rPr>
              <a:t>density,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often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heel.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It's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portable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doesn't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use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radiation,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making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it</a:t>
            </a:r>
            <a:r>
              <a:rPr dirty="0" sz="2400" spc="-3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useful</a:t>
            </a:r>
            <a:r>
              <a:rPr dirty="0" sz="2400" spc="-3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dirty="0" sz="2400" spc="-4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screening.</a:t>
            </a:r>
            <a:endParaRPr sz="2400">
              <a:latin typeface="Calibri"/>
              <a:cs typeface="Calibri"/>
            </a:endParaRPr>
          </a:p>
          <a:p>
            <a:pPr algn="just" marL="350520" marR="5080" indent="-338455">
              <a:lnSpc>
                <a:spcPct val="113999"/>
              </a:lnSpc>
              <a:spcBef>
                <a:spcPts val="5"/>
              </a:spcBef>
              <a:buClr>
                <a:srgbClr val="000000"/>
              </a:buClr>
              <a:buSzPct val="45833"/>
              <a:buFont typeface="Microsoft Sans Serif"/>
              <a:buChar char="●"/>
              <a:tabLst>
                <a:tab pos="355600" algn="l"/>
              </a:tabLst>
            </a:pPr>
            <a:r>
              <a:rPr dirty="0" sz="2400" spc="-10" b="1">
                <a:solidFill>
                  <a:srgbClr val="1B1C1D"/>
                </a:solidFill>
                <a:latin typeface="Calibri"/>
                <a:cs typeface="Calibri"/>
              </a:rPr>
              <a:t>Radiofrequency</a:t>
            </a:r>
            <a:r>
              <a:rPr dirty="0" sz="2400" spc="-6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Echo</a:t>
            </a:r>
            <a:r>
              <a:rPr dirty="0" sz="2400" spc="-75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graphic</a:t>
            </a:r>
            <a:r>
              <a:rPr dirty="0" sz="2400" spc="-60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Multi</a:t>
            </a:r>
            <a:r>
              <a:rPr dirty="0" sz="2400" spc="-50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B1C1D"/>
                </a:solidFill>
                <a:latin typeface="Calibri"/>
                <a:cs typeface="Calibri"/>
              </a:rPr>
              <a:t>Spectrometry</a:t>
            </a:r>
            <a:r>
              <a:rPr dirty="0" sz="2400" spc="-70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B1C1D"/>
                </a:solidFill>
                <a:latin typeface="Calibri"/>
                <a:cs typeface="Calibri"/>
              </a:rPr>
              <a:t>(REMS):</a:t>
            </a:r>
            <a:r>
              <a:rPr dirty="0" sz="2400" spc="-30" b="1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1B1C1D"/>
                </a:solidFill>
                <a:latin typeface="Calibri"/>
                <a:cs typeface="Calibri"/>
              </a:rPr>
              <a:t>newer,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non-ionizing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technology</a:t>
            </a:r>
            <a:r>
              <a:rPr dirty="0" sz="2400" spc="-7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analyses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ultrasound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signals</a:t>
            </a:r>
            <a:r>
              <a:rPr dirty="0" sz="2400" spc="-7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assess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quality</a:t>
            </a:r>
            <a:r>
              <a:rPr dirty="0" sz="2400" spc="-6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quantity</a:t>
            </a:r>
            <a:r>
              <a:rPr dirty="0" sz="2400" spc="-6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B1C1D"/>
                </a:solidFill>
                <a:latin typeface="Calibri"/>
                <a:cs typeface="Calibri"/>
              </a:rPr>
              <a:t>at </a:t>
            </a:r>
            <a:r>
              <a:rPr dirty="0" sz="2400" spc="-25">
                <a:solidFill>
                  <a:srgbClr val="1B1C1D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hip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spine,</a:t>
            </a:r>
            <a:r>
              <a:rPr dirty="0" sz="2400" spc="-4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providing</a:t>
            </a:r>
            <a:r>
              <a:rPr dirty="0" sz="2400" spc="-5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portable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C1D"/>
                </a:solidFill>
                <a:latin typeface="Calibri"/>
                <a:cs typeface="Calibri"/>
              </a:rPr>
              <a:t>alternative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B1C1D"/>
                </a:solidFill>
                <a:latin typeface="Calibri"/>
                <a:cs typeface="Calibri"/>
              </a:rPr>
              <a:t>DXA.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456" y="841324"/>
            <a:ext cx="10017760" cy="2705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00810">
              <a:lnSpc>
                <a:spcPts val="7130"/>
              </a:lnSpc>
              <a:spcBef>
                <a:spcPts val="100"/>
              </a:spcBef>
            </a:pPr>
            <a:r>
              <a:rPr dirty="0" sz="6000" spc="-55">
                <a:latin typeface="Arial"/>
                <a:cs typeface="Arial"/>
              </a:rPr>
              <a:t>Problem</a:t>
            </a:r>
            <a:r>
              <a:rPr dirty="0" sz="6000" spc="-360">
                <a:latin typeface="Arial"/>
                <a:cs typeface="Arial"/>
              </a:rPr>
              <a:t> </a:t>
            </a:r>
            <a:r>
              <a:rPr dirty="0" sz="6000" spc="-25">
                <a:latin typeface="Arial"/>
                <a:cs typeface="Arial"/>
              </a:rPr>
              <a:t>Statement:-</a:t>
            </a:r>
            <a:endParaRPr sz="6000">
              <a:latin typeface="Arial"/>
              <a:cs typeface="Arial"/>
            </a:endParaRPr>
          </a:p>
          <a:p>
            <a:pPr marL="2237740" marR="5080" indent="-2225675">
              <a:lnSpc>
                <a:spcPts val="6840"/>
              </a:lnSpc>
              <a:spcBef>
                <a:spcPts val="390"/>
              </a:spcBef>
            </a:pPr>
            <a:r>
              <a:rPr dirty="0" sz="6000" spc="-110" b="0">
                <a:latin typeface="Tahoma"/>
                <a:cs typeface="Tahoma"/>
              </a:rPr>
              <a:t>How</a:t>
            </a:r>
            <a:r>
              <a:rPr dirty="0" sz="6000" spc="-315" b="0">
                <a:latin typeface="Tahoma"/>
                <a:cs typeface="Tahoma"/>
              </a:rPr>
              <a:t> </a:t>
            </a:r>
            <a:r>
              <a:rPr dirty="0" sz="6000" b="0">
                <a:latin typeface="Tahoma"/>
                <a:cs typeface="Tahoma"/>
              </a:rPr>
              <a:t>to</a:t>
            </a:r>
            <a:r>
              <a:rPr dirty="0" sz="6000" spc="-315" b="0">
                <a:latin typeface="Tahoma"/>
                <a:cs typeface="Tahoma"/>
              </a:rPr>
              <a:t> </a:t>
            </a:r>
            <a:r>
              <a:rPr dirty="0" sz="6000" spc="-130" b="0">
                <a:latin typeface="Tahoma"/>
                <a:cs typeface="Tahoma"/>
              </a:rPr>
              <a:t>detect</a:t>
            </a:r>
            <a:r>
              <a:rPr dirty="0" sz="6000" spc="-340" b="0">
                <a:latin typeface="Tahoma"/>
                <a:cs typeface="Tahoma"/>
              </a:rPr>
              <a:t> </a:t>
            </a:r>
            <a:r>
              <a:rPr dirty="0" sz="6000" spc="-135" b="0">
                <a:latin typeface="Tahoma"/>
                <a:cs typeface="Tahoma"/>
              </a:rPr>
              <a:t>stage</a:t>
            </a:r>
            <a:r>
              <a:rPr dirty="0" sz="6000" spc="-325" b="0">
                <a:latin typeface="Tahoma"/>
                <a:cs typeface="Tahoma"/>
              </a:rPr>
              <a:t> </a:t>
            </a:r>
            <a:r>
              <a:rPr dirty="0" sz="6000" b="0">
                <a:latin typeface="Tahoma"/>
                <a:cs typeface="Tahoma"/>
              </a:rPr>
              <a:t>of</a:t>
            </a:r>
            <a:r>
              <a:rPr dirty="0" sz="6000" spc="400" b="0">
                <a:latin typeface="Tahoma"/>
                <a:cs typeface="Tahoma"/>
              </a:rPr>
              <a:t> </a:t>
            </a:r>
            <a:r>
              <a:rPr dirty="0" sz="6000" spc="-80" b="0">
                <a:latin typeface="Tahoma"/>
                <a:cs typeface="Tahoma"/>
              </a:rPr>
              <a:t>disease </a:t>
            </a:r>
            <a:r>
              <a:rPr dirty="0" sz="6000" spc="-50" b="0">
                <a:latin typeface="Tahoma"/>
                <a:cs typeface="Tahoma"/>
              </a:rPr>
              <a:t>using</a:t>
            </a:r>
            <a:r>
              <a:rPr dirty="0" sz="6000" spc="-375" b="0">
                <a:latin typeface="Tahoma"/>
                <a:cs typeface="Tahoma"/>
              </a:rPr>
              <a:t> </a:t>
            </a:r>
            <a:r>
              <a:rPr dirty="0" sz="6000" spc="-55" b="0">
                <a:latin typeface="Tahoma"/>
                <a:cs typeface="Tahoma"/>
              </a:rPr>
              <a:t>Ai-</a:t>
            </a:r>
            <a:r>
              <a:rPr dirty="0" sz="6000" spc="-10" b="0">
                <a:latin typeface="Tahoma"/>
                <a:cs typeface="Tahoma"/>
              </a:rPr>
              <a:t>Models?</a:t>
            </a:r>
            <a:endParaRPr sz="6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5">
                <a:latin typeface="Arial"/>
                <a:cs typeface="Arial"/>
              </a:rPr>
              <a:t>Proposed</a:t>
            </a:r>
            <a:r>
              <a:rPr dirty="0" sz="5400" spc="-240">
                <a:latin typeface="Arial"/>
                <a:cs typeface="Arial"/>
              </a:rPr>
              <a:t> </a:t>
            </a:r>
            <a:r>
              <a:rPr dirty="0" sz="5400" spc="-135">
                <a:latin typeface="Arial"/>
                <a:cs typeface="Arial"/>
              </a:rPr>
              <a:t>solution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040" y="3547855"/>
            <a:ext cx="7995994" cy="282624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06907" y="2245867"/>
            <a:ext cx="1010920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120">
                <a:latin typeface="Tahoma"/>
                <a:cs typeface="Tahoma"/>
              </a:rPr>
              <a:t>WE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270">
                <a:latin typeface="Tahoma"/>
                <a:cs typeface="Tahoma"/>
              </a:rPr>
              <a:t>CAN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USE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265">
                <a:latin typeface="Tahoma"/>
                <a:cs typeface="Tahoma"/>
              </a:rPr>
              <a:t>CNN</a:t>
            </a:r>
            <a:r>
              <a:rPr dirty="0" sz="2800" spc="-165">
                <a:latin typeface="Tahoma"/>
                <a:cs typeface="Tahoma"/>
              </a:rPr>
              <a:t> </a:t>
            </a:r>
            <a:r>
              <a:rPr dirty="0" sz="2800" spc="160">
                <a:latin typeface="Tahoma"/>
                <a:cs typeface="Tahoma"/>
              </a:rPr>
              <a:t>MODELS</a:t>
            </a:r>
            <a:r>
              <a:rPr dirty="0" sz="2800" spc="-210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TO</a:t>
            </a:r>
            <a:r>
              <a:rPr dirty="0" sz="2800" spc="-16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DETECT</a:t>
            </a:r>
            <a:r>
              <a:rPr dirty="0" sz="2800" spc="-27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THE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45">
                <a:latin typeface="Tahoma"/>
                <a:cs typeface="Tahoma"/>
              </a:rPr>
              <a:t>DISEASE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USING </a:t>
            </a:r>
            <a:r>
              <a:rPr dirty="0" sz="2800" spc="200">
                <a:latin typeface="Tahoma"/>
                <a:cs typeface="Tahoma"/>
              </a:rPr>
              <a:t>DXA</a:t>
            </a:r>
            <a:r>
              <a:rPr dirty="0" sz="2800" spc="-204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IMAGES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73074" y="795655"/>
            <a:ext cx="5038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dirty="0" sz="2000" b="1">
                <a:latin typeface="Arial"/>
                <a:cs typeface="Arial"/>
              </a:rPr>
              <a:t>Image</a:t>
            </a:r>
            <a:r>
              <a:rPr dirty="0" sz="2000" spc="65" b="1">
                <a:latin typeface="Arial"/>
                <a:cs typeface="Arial"/>
              </a:rPr>
              <a:t> </a:t>
            </a:r>
            <a:r>
              <a:rPr dirty="0" sz="2000" spc="-45" b="1">
                <a:latin typeface="Arial"/>
                <a:cs typeface="Arial"/>
              </a:rPr>
              <a:t>Recognition</a:t>
            </a:r>
            <a:r>
              <a:rPr dirty="0" sz="2000" spc="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6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detect</a:t>
            </a:r>
            <a:r>
              <a:rPr dirty="0" sz="2000" spc="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early-</a:t>
            </a:r>
            <a:r>
              <a:rPr dirty="0" sz="2000" spc="-10" b="1">
                <a:latin typeface="Arial"/>
                <a:cs typeface="Arial"/>
              </a:rPr>
              <a:t>stage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1250188"/>
            <a:ext cx="3556761" cy="484886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032" y="1266061"/>
            <a:ext cx="4572604" cy="89547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037" y="2233422"/>
            <a:ext cx="4829810" cy="239115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65428" y="4859858"/>
            <a:ext cx="592328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Different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part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of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image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different </a:t>
            </a:r>
            <a:r>
              <a:rPr dirty="0" sz="2800" spc="80">
                <a:latin typeface="Tahoma"/>
                <a:cs typeface="Tahoma"/>
              </a:rPr>
              <a:t>bone-</a:t>
            </a:r>
            <a:r>
              <a:rPr dirty="0" sz="2800">
                <a:latin typeface="Tahoma"/>
                <a:cs typeface="Tahoma"/>
              </a:rPr>
              <a:t>density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can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165">
                <a:latin typeface="Tahoma"/>
                <a:cs typeface="Tahoma"/>
              </a:rPr>
              <a:t>be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used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to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detect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early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45">
                <a:latin typeface="Tahoma"/>
                <a:cs typeface="Tahoma"/>
              </a:rPr>
              <a:t>diseases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4423" y="6347256"/>
            <a:ext cx="106572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 b="1">
                <a:latin typeface="Tahoma"/>
                <a:cs typeface="Tahoma"/>
              </a:rPr>
              <a:t>REFER:-</a:t>
            </a:r>
            <a:r>
              <a:rPr dirty="0" sz="1200" spc="60" b="1">
                <a:latin typeface="Tahoma"/>
                <a:cs typeface="Tahoma"/>
              </a:rPr>
              <a:t> </a:t>
            </a:r>
            <a:r>
              <a:rPr dirty="0" sz="1200" spc="-95">
                <a:latin typeface="Tahoma"/>
                <a:cs typeface="Tahoma"/>
              </a:rPr>
              <a:t>T.</a:t>
            </a:r>
            <a:r>
              <a:rPr dirty="0" sz="1200" spc="-1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Woloszynski,</a:t>
            </a:r>
            <a:r>
              <a:rPr dirty="0" sz="1200" spc="4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"Automated</a:t>
            </a:r>
            <a:r>
              <a:rPr dirty="0" sz="1200" spc="6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classification</a:t>
            </a:r>
            <a:r>
              <a:rPr dirty="0" sz="1200" spc="7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system</a:t>
            </a:r>
            <a:r>
              <a:rPr dirty="0" sz="1200" spc="5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for</a:t>
            </a:r>
            <a:r>
              <a:rPr dirty="0" sz="1200" spc="6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detection</a:t>
            </a:r>
            <a:r>
              <a:rPr dirty="0" sz="1200" spc="4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and</a:t>
            </a:r>
            <a:r>
              <a:rPr dirty="0" sz="1200" spc="5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prediction</a:t>
            </a:r>
            <a:r>
              <a:rPr dirty="0" sz="1200" spc="6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of</a:t>
            </a:r>
            <a:r>
              <a:rPr dirty="0" sz="1200" spc="8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osteoarthritis</a:t>
            </a:r>
            <a:r>
              <a:rPr dirty="0" sz="1200" spc="7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in</a:t>
            </a:r>
            <a:r>
              <a:rPr dirty="0" sz="1200" spc="4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human</a:t>
            </a:r>
            <a:r>
              <a:rPr dirty="0" sz="1200" spc="7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knee</a:t>
            </a:r>
            <a:r>
              <a:rPr dirty="0" sz="1200" spc="6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joints,"</a:t>
            </a:r>
            <a:r>
              <a:rPr dirty="0" sz="1200" spc="5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Doctor</a:t>
            </a:r>
            <a:r>
              <a:rPr dirty="0" sz="1200" spc="6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of</a:t>
            </a:r>
            <a:r>
              <a:rPr dirty="0" sz="1200" spc="8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Philosophy,</a:t>
            </a:r>
            <a:r>
              <a:rPr dirty="0" sz="1200" spc="45">
                <a:latin typeface="Tahoma"/>
                <a:cs typeface="Tahoma"/>
              </a:rPr>
              <a:t> </a:t>
            </a:r>
            <a:r>
              <a:rPr dirty="0" sz="1200" spc="-10">
                <a:latin typeface="Tahoma"/>
                <a:cs typeface="Tahoma"/>
              </a:rPr>
              <a:t>2011.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47344" y="2823844"/>
            <a:ext cx="4304030" cy="271780"/>
          </a:xfrm>
          <a:custGeom>
            <a:avLst/>
            <a:gdLst/>
            <a:ahLst/>
            <a:cxnLst/>
            <a:rect l="l" t="t" r="r" b="b"/>
            <a:pathLst>
              <a:path w="4304030" h="271780">
                <a:moveTo>
                  <a:pt x="4303763" y="0"/>
                </a:moveTo>
                <a:lnTo>
                  <a:pt x="4236720" y="0"/>
                </a:lnTo>
                <a:lnTo>
                  <a:pt x="0" y="0"/>
                </a:lnTo>
                <a:lnTo>
                  <a:pt x="0" y="271272"/>
                </a:lnTo>
                <a:lnTo>
                  <a:pt x="4236720" y="271272"/>
                </a:lnTo>
                <a:lnTo>
                  <a:pt x="4303763" y="271272"/>
                </a:lnTo>
                <a:lnTo>
                  <a:pt x="43037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47344" y="3982084"/>
            <a:ext cx="3203575" cy="271780"/>
          </a:xfrm>
          <a:custGeom>
            <a:avLst/>
            <a:gdLst/>
            <a:ahLst/>
            <a:cxnLst/>
            <a:rect l="l" t="t" r="r" b="b"/>
            <a:pathLst>
              <a:path w="3203575" h="271779">
                <a:moveTo>
                  <a:pt x="3203448" y="0"/>
                </a:moveTo>
                <a:lnTo>
                  <a:pt x="3136392" y="0"/>
                </a:lnTo>
                <a:lnTo>
                  <a:pt x="0" y="0"/>
                </a:lnTo>
                <a:lnTo>
                  <a:pt x="0" y="271272"/>
                </a:lnTo>
                <a:lnTo>
                  <a:pt x="3136392" y="271272"/>
                </a:lnTo>
                <a:lnTo>
                  <a:pt x="3203448" y="271272"/>
                </a:lnTo>
                <a:lnTo>
                  <a:pt x="32034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47344" y="5429846"/>
            <a:ext cx="1442085" cy="271780"/>
          </a:xfrm>
          <a:custGeom>
            <a:avLst/>
            <a:gdLst/>
            <a:ahLst/>
            <a:cxnLst/>
            <a:rect l="l" t="t" r="r" b="b"/>
            <a:pathLst>
              <a:path w="1442085" h="271779">
                <a:moveTo>
                  <a:pt x="1374635" y="0"/>
                </a:moveTo>
                <a:lnTo>
                  <a:pt x="0" y="0"/>
                </a:lnTo>
                <a:lnTo>
                  <a:pt x="0" y="271272"/>
                </a:lnTo>
                <a:lnTo>
                  <a:pt x="1374635" y="271272"/>
                </a:lnTo>
                <a:lnTo>
                  <a:pt x="1374635" y="0"/>
                </a:lnTo>
                <a:close/>
              </a:path>
              <a:path w="1442085" h="271779">
                <a:moveTo>
                  <a:pt x="1441704" y="0"/>
                </a:moveTo>
                <a:lnTo>
                  <a:pt x="1374648" y="0"/>
                </a:lnTo>
                <a:lnTo>
                  <a:pt x="1374648" y="271272"/>
                </a:lnTo>
                <a:lnTo>
                  <a:pt x="1441704" y="271272"/>
                </a:lnTo>
                <a:lnTo>
                  <a:pt x="14417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64540" y="751072"/>
            <a:ext cx="9061450" cy="610806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725"/>
              </a:spcBef>
              <a:buSzPct val="96428"/>
              <a:buFont typeface="Wingdings"/>
              <a:buChar char=""/>
              <a:tabLst>
                <a:tab pos="328930" algn="l"/>
              </a:tabLst>
            </a:pPr>
            <a:r>
              <a:rPr dirty="0" sz="2800" b="1">
                <a:latin typeface="Arial"/>
                <a:cs typeface="Arial"/>
              </a:rPr>
              <a:t>CNN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Models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to</a:t>
            </a:r>
            <a:r>
              <a:rPr dirty="0" sz="2800" spc="-40" b="1">
                <a:latin typeface="Arial"/>
                <a:cs typeface="Arial"/>
              </a:rPr>
              <a:t> </a:t>
            </a:r>
            <a:r>
              <a:rPr dirty="0" sz="2800" spc="-25" b="1">
                <a:latin typeface="Arial"/>
                <a:cs typeface="Arial"/>
              </a:rPr>
              <a:t>analysis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Image</a:t>
            </a:r>
            <a:endParaRPr sz="2800">
              <a:latin typeface="Arial"/>
              <a:cs typeface="Arial"/>
            </a:endParaRPr>
          </a:p>
          <a:p>
            <a:pPr marL="82550" marR="335280">
              <a:lnSpc>
                <a:spcPct val="95000"/>
              </a:lnSpc>
              <a:spcBef>
                <a:spcPts val="575"/>
              </a:spcBef>
            </a:pPr>
            <a:r>
              <a:rPr dirty="0" sz="2000" spc="-65">
                <a:latin typeface="Tahoma"/>
                <a:cs typeface="Tahoma"/>
              </a:rPr>
              <a:t>Based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on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review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160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recent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scientific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publications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research,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the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most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prominent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effective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55">
                <a:latin typeface="Tahoma"/>
                <a:cs typeface="Tahoma"/>
              </a:rPr>
              <a:t>AI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models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used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for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detecting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osteoporosis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are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95" b="1">
                <a:latin typeface="Trebuchet MS"/>
                <a:cs typeface="Trebuchet MS"/>
              </a:rPr>
              <a:t>Convolutional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Neural </a:t>
            </a:r>
            <a:r>
              <a:rPr dirty="0" sz="2000" spc="-110" b="1">
                <a:latin typeface="Trebuchet MS"/>
                <a:cs typeface="Trebuchet MS"/>
              </a:rPr>
              <a:t>Networks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90" b="1">
                <a:latin typeface="Trebuchet MS"/>
                <a:cs typeface="Trebuchet MS"/>
              </a:rPr>
              <a:t>(CNNs)</a:t>
            </a:r>
            <a:r>
              <a:rPr dirty="0" sz="2000" spc="-90">
                <a:latin typeface="Tahoma"/>
                <a:cs typeface="Tahoma"/>
              </a:rPr>
              <a:t>,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with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specific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architectures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like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45" b="1">
                <a:latin typeface="Trebuchet MS"/>
                <a:cs typeface="Trebuchet MS"/>
              </a:rPr>
              <a:t>Res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spc="-85" b="1">
                <a:latin typeface="Trebuchet MS"/>
                <a:cs typeface="Trebuchet MS"/>
              </a:rPr>
              <a:t>Net</a:t>
            </a:r>
            <a:r>
              <a:rPr dirty="0" sz="2000" spc="-75" b="1">
                <a:latin typeface="Trebuchet MS"/>
                <a:cs typeface="Trebuchet MS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45" b="1">
                <a:latin typeface="Trebuchet MS"/>
                <a:cs typeface="Trebuchet MS"/>
              </a:rPr>
              <a:t>Efficient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spc="-85" b="1">
                <a:latin typeface="Trebuchet MS"/>
                <a:cs typeface="Trebuchet MS"/>
              </a:rPr>
              <a:t>Net</a:t>
            </a:r>
            <a:r>
              <a:rPr dirty="0" sz="2000" spc="-70" b="1">
                <a:latin typeface="Trebuchet MS"/>
                <a:cs typeface="Trebuchet MS"/>
              </a:rPr>
              <a:t> </a:t>
            </a:r>
            <a:r>
              <a:rPr dirty="0" sz="2000" spc="-10">
                <a:latin typeface="Tahoma"/>
                <a:cs typeface="Tahoma"/>
              </a:rPr>
              <a:t>showing </a:t>
            </a:r>
            <a:r>
              <a:rPr dirty="0" sz="2000" spc="-80">
                <a:latin typeface="Tahoma"/>
                <a:cs typeface="Tahoma"/>
              </a:rPr>
              <a:t>particularly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strong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performance.</a:t>
            </a:r>
            <a:endParaRPr sz="2000">
              <a:latin typeface="Tahoma"/>
              <a:cs typeface="Tahoma"/>
            </a:endParaRPr>
          </a:p>
          <a:p>
            <a:pPr marL="82550">
              <a:lnSpc>
                <a:spcPts val="2220"/>
              </a:lnSpc>
            </a:pPr>
            <a:r>
              <a:rPr dirty="0" sz="2000" spc="-95" b="1">
                <a:latin typeface="Trebuchet MS"/>
                <a:cs typeface="Trebuchet MS"/>
              </a:rPr>
              <a:t>Key</a:t>
            </a:r>
            <a:r>
              <a:rPr dirty="0" sz="2000" spc="-90" b="1">
                <a:latin typeface="Trebuchet MS"/>
                <a:cs typeface="Trebuchet MS"/>
              </a:rPr>
              <a:t> </a:t>
            </a:r>
            <a:r>
              <a:rPr dirty="0" sz="2000" spc="-65" b="1">
                <a:latin typeface="Trebuchet MS"/>
                <a:cs typeface="Trebuchet MS"/>
              </a:rPr>
              <a:t>AI</a:t>
            </a:r>
            <a:r>
              <a:rPr dirty="0" sz="2000" spc="-85" b="1">
                <a:latin typeface="Trebuchet MS"/>
                <a:cs typeface="Trebuchet MS"/>
              </a:rPr>
              <a:t> </a:t>
            </a:r>
            <a:r>
              <a:rPr dirty="0" sz="2000" spc="-30" b="1">
                <a:latin typeface="Trebuchet MS"/>
                <a:cs typeface="Trebuchet MS"/>
              </a:rPr>
              <a:t>Models</a:t>
            </a:r>
            <a:r>
              <a:rPr dirty="0" sz="2000" spc="-105" b="1">
                <a:latin typeface="Trebuchet MS"/>
                <a:cs typeface="Trebuchet MS"/>
              </a:rPr>
              <a:t> </a:t>
            </a:r>
            <a:r>
              <a:rPr dirty="0" sz="2000" spc="-40" b="1">
                <a:latin typeface="Trebuchet MS"/>
                <a:cs typeface="Trebuchet MS"/>
              </a:rPr>
              <a:t>and</a:t>
            </a:r>
            <a:r>
              <a:rPr dirty="0" sz="2000" spc="-90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Techniques</a:t>
            </a:r>
            <a:endParaRPr sz="2000">
              <a:latin typeface="Trebuchet MS"/>
              <a:cs typeface="Trebuchet MS"/>
            </a:endParaRPr>
          </a:p>
          <a:p>
            <a:pPr marL="82550" marR="303530">
              <a:lnSpc>
                <a:spcPct val="95000"/>
              </a:lnSpc>
              <a:spcBef>
                <a:spcPts val="60"/>
              </a:spcBef>
            </a:pPr>
            <a:r>
              <a:rPr dirty="0" sz="2000" spc="-95" b="1">
                <a:latin typeface="Trebuchet MS"/>
                <a:cs typeface="Trebuchet MS"/>
              </a:rPr>
              <a:t>Convolutional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spc="-95" b="1">
                <a:latin typeface="Trebuchet MS"/>
                <a:cs typeface="Trebuchet MS"/>
              </a:rPr>
              <a:t>Neural</a:t>
            </a:r>
            <a:r>
              <a:rPr dirty="0" sz="2000" spc="-35" b="1">
                <a:latin typeface="Trebuchet MS"/>
                <a:cs typeface="Trebuchet MS"/>
              </a:rPr>
              <a:t> </a:t>
            </a:r>
            <a:r>
              <a:rPr dirty="0" sz="2000" spc="-110" b="1">
                <a:latin typeface="Trebuchet MS"/>
                <a:cs typeface="Trebuchet MS"/>
              </a:rPr>
              <a:t>Networks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95" b="1">
                <a:latin typeface="Trebuchet MS"/>
                <a:cs typeface="Trebuchet MS"/>
              </a:rPr>
              <a:t>(CNNs):</a:t>
            </a:r>
            <a:r>
              <a:rPr dirty="0" sz="2000" spc="-70" b="1">
                <a:latin typeface="Trebuchet MS"/>
                <a:cs typeface="Trebuchet MS"/>
              </a:rPr>
              <a:t> </a:t>
            </a:r>
            <a:r>
              <a:rPr dirty="0" sz="2000" spc="-114">
                <a:latin typeface="Tahoma"/>
                <a:cs typeface="Tahoma"/>
              </a:rPr>
              <a:t>These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are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the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foundational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deep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learning </a:t>
            </a:r>
            <a:r>
              <a:rPr dirty="0" sz="2000" spc="-70">
                <a:latin typeface="Tahoma"/>
                <a:cs typeface="Tahoma"/>
              </a:rPr>
              <a:t>models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used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for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analyzing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medical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images.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They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are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exceptional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at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automatically </a:t>
            </a:r>
            <a:r>
              <a:rPr dirty="0" sz="2000" spc="-70">
                <a:latin typeface="Tahoma"/>
                <a:cs typeface="Tahoma"/>
              </a:rPr>
              <a:t>learning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extracting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features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from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visual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data,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such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as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the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subtle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changes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in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bone </a:t>
            </a:r>
            <a:r>
              <a:rPr dirty="0" sz="2000" spc="-100">
                <a:latin typeface="Tahoma"/>
                <a:cs typeface="Tahoma"/>
              </a:rPr>
              <a:t>texture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density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visible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on</a:t>
            </a:r>
            <a:r>
              <a:rPr dirty="0" sz="2000" spc="-90">
                <a:latin typeface="Tahoma"/>
                <a:cs typeface="Tahoma"/>
              </a:rPr>
              <a:t> X-</a:t>
            </a:r>
            <a:r>
              <a:rPr dirty="0" sz="2000" spc="-135">
                <a:latin typeface="Tahoma"/>
                <a:cs typeface="Tahoma"/>
              </a:rPr>
              <a:t>rays,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CT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scans,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other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images.</a:t>
            </a:r>
            <a:endParaRPr sz="2000">
              <a:latin typeface="Tahoma"/>
              <a:cs typeface="Tahoma"/>
            </a:endParaRPr>
          </a:p>
          <a:p>
            <a:pPr marL="82550" marR="122555">
              <a:lnSpc>
                <a:spcPct val="95000"/>
              </a:lnSpc>
            </a:pPr>
            <a:r>
              <a:rPr dirty="0" sz="2000" spc="-45" b="1">
                <a:latin typeface="Trebuchet MS"/>
                <a:cs typeface="Trebuchet MS"/>
              </a:rPr>
              <a:t>Res</a:t>
            </a:r>
            <a:r>
              <a:rPr dirty="0" sz="2000" spc="-60" b="1">
                <a:latin typeface="Trebuchet MS"/>
                <a:cs typeface="Trebuchet MS"/>
              </a:rPr>
              <a:t> </a:t>
            </a:r>
            <a:r>
              <a:rPr dirty="0" sz="2000" spc="-80" b="1">
                <a:latin typeface="Trebuchet MS"/>
                <a:cs typeface="Trebuchet MS"/>
              </a:rPr>
              <a:t>Net</a:t>
            </a:r>
            <a:r>
              <a:rPr dirty="0" sz="2000" spc="-70" b="1">
                <a:latin typeface="Trebuchet MS"/>
                <a:cs typeface="Trebuchet MS"/>
              </a:rPr>
              <a:t> </a:t>
            </a:r>
            <a:r>
              <a:rPr dirty="0" sz="2000" spc="-95" b="1">
                <a:latin typeface="Trebuchet MS"/>
                <a:cs typeface="Trebuchet MS"/>
              </a:rPr>
              <a:t>(Residual</a:t>
            </a:r>
            <a:r>
              <a:rPr dirty="0" sz="2000" spc="-65" b="1">
                <a:latin typeface="Trebuchet MS"/>
                <a:cs typeface="Trebuchet MS"/>
              </a:rPr>
              <a:t> </a:t>
            </a:r>
            <a:r>
              <a:rPr dirty="0" sz="2000" spc="-125" b="1">
                <a:latin typeface="Trebuchet MS"/>
                <a:cs typeface="Trebuchet MS"/>
              </a:rPr>
              <a:t>Networks):</a:t>
            </a:r>
            <a:r>
              <a:rPr dirty="0" sz="2000" spc="-105" b="1">
                <a:latin typeface="Trebuchet MS"/>
                <a:cs typeface="Trebuchet MS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specific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type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145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CNN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that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frequently</a:t>
            </a:r>
            <a:r>
              <a:rPr dirty="0" sz="2000" spc="-170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used.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ResNet </a:t>
            </a:r>
            <a:r>
              <a:rPr dirty="0" sz="2000" spc="-100">
                <a:latin typeface="Tahoma"/>
                <a:cs typeface="Tahoma"/>
              </a:rPr>
              <a:t>architectures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are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designed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to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handle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very </a:t>
            </a:r>
            <a:r>
              <a:rPr dirty="0" sz="2000" spc="-55">
                <a:latin typeface="Tahoma"/>
                <a:cs typeface="Tahoma"/>
              </a:rPr>
              <a:t>deep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networks,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which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30">
                <a:latin typeface="Tahoma"/>
                <a:cs typeface="Tahoma"/>
              </a:rPr>
              <a:t>is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crucial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for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learning </a:t>
            </a:r>
            <a:r>
              <a:rPr dirty="0" sz="2000" spc="-80">
                <a:latin typeface="Tahoma"/>
                <a:cs typeface="Tahoma"/>
              </a:rPr>
              <a:t>the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complex,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multi-</a:t>
            </a:r>
            <a:r>
              <a:rPr dirty="0" sz="2000" spc="-105">
                <a:latin typeface="Tahoma"/>
                <a:cs typeface="Tahoma"/>
              </a:rPr>
              <a:t>layered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patterns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in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high-</a:t>
            </a:r>
            <a:r>
              <a:rPr dirty="0" sz="2000" spc="-85">
                <a:latin typeface="Tahoma"/>
                <a:cs typeface="Tahoma"/>
              </a:rPr>
              <a:t>resolution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medical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images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without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loss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in </a:t>
            </a:r>
            <a:r>
              <a:rPr dirty="0" sz="2000" spc="-110">
                <a:latin typeface="Tahoma"/>
                <a:cs typeface="Tahoma"/>
              </a:rPr>
              <a:t>performance.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Studies</a:t>
            </a:r>
            <a:r>
              <a:rPr dirty="0" sz="2000" spc="-114">
                <a:latin typeface="Tahoma"/>
                <a:cs typeface="Tahoma"/>
              </a:rPr>
              <a:t> have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shown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that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models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like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ResNet-</a:t>
            </a:r>
            <a:r>
              <a:rPr dirty="0" sz="2000" spc="90">
                <a:latin typeface="Tahoma"/>
                <a:cs typeface="Tahoma"/>
              </a:rPr>
              <a:t>50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achieve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high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accuracy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sensitivity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in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detecting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osteoporosis.</a:t>
            </a:r>
            <a:endParaRPr sz="2000">
              <a:latin typeface="Tahoma"/>
              <a:cs typeface="Tahoma"/>
            </a:endParaRPr>
          </a:p>
          <a:p>
            <a:pPr marL="82550" marR="5080">
              <a:lnSpc>
                <a:spcPct val="95000"/>
              </a:lnSpc>
            </a:pPr>
            <a:r>
              <a:rPr dirty="0" sz="2000" spc="-145" b="1">
                <a:latin typeface="Trebuchet MS"/>
                <a:cs typeface="Trebuchet MS"/>
              </a:rPr>
              <a:t>Efficient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130" b="1">
                <a:latin typeface="Trebuchet MS"/>
                <a:cs typeface="Trebuchet MS"/>
              </a:rPr>
              <a:t>Net:</a:t>
            </a:r>
            <a:r>
              <a:rPr dirty="0" sz="2000" spc="-105" b="1">
                <a:latin typeface="Trebuchet MS"/>
                <a:cs typeface="Trebuchet MS"/>
              </a:rPr>
              <a:t> </a:t>
            </a:r>
            <a:r>
              <a:rPr dirty="0" sz="2000" spc="-95">
                <a:latin typeface="Tahoma"/>
                <a:cs typeface="Tahoma"/>
              </a:rPr>
              <a:t>This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family</a:t>
            </a:r>
            <a:r>
              <a:rPr dirty="0" sz="2000" spc="-1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16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models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known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for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its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efficiency,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achieving</a:t>
            </a:r>
            <a:r>
              <a:rPr dirty="0" sz="2000" spc="-15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good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balance </a:t>
            </a:r>
            <a:r>
              <a:rPr dirty="0" sz="2000" spc="-90">
                <a:latin typeface="Tahoma"/>
                <a:cs typeface="Tahoma"/>
              </a:rPr>
              <a:t>between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model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size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and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performance.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This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makes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them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practical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choice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for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clinical </a:t>
            </a:r>
            <a:r>
              <a:rPr dirty="0" sz="2000" spc="-70">
                <a:latin typeface="Tahoma"/>
                <a:cs typeface="Tahoma"/>
              </a:rPr>
              <a:t>applications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where </a:t>
            </a:r>
            <a:r>
              <a:rPr dirty="0" sz="2000" spc="-85">
                <a:latin typeface="Tahoma"/>
                <a:cs typeface="Tahoma"/>
              </a:rPr>
              <a:t>computational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resources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130">
                <a:latin typeface="Tahoma"/>
                <a:cs typeface="Tahoma"/>
              </a:rPr>
              <a:t>may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be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a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concern.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Research </a:t>
            </a:r>
            <a:r>
              <a:rPr dirty="0" sz="2000" spc="-85">
                <a:latin typeface="Tahoma"/>
                <a:cs typeface="Tahoma"/>
              </a:rPr>
              <a:t>has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indicated </a:t>
            </a:r>
            <a:r>
              <a:rPr dirty="0" sz="2000" spc="-85">
                <a:latin typeface="Tahoma"/>
                <a:cs typeface="Tahoma"/>
              </a:rPr>
              <a:t>that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Efficient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Net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models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also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perform </a:t>
            </a:r>
            <a:r>
              <a:rPr dirty="0" sz="2000" spc="-85">
                <a:latin typeface="Tahoma"/>
                <a:cs typeface="Tahoma"/>
              </a:rPr>
              <a:t>exceptionally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well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in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osteoporosis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detection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from </a:t>
            </a:r>
            <a:r>
              <a:rPr dirty="0" sz="2000" spc="-10">
                <a:latin typeface="Tahoma"/>
                <a:cs typeface="Tahoma"/>
              </a:rPr>
              <a:t>radiographs.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32815" y="807846"/>
            <a:ext cx="9902190" cy="4934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 b="1">
                <a:latin typeface="Tahoma"/>
                <a:cs typeface="Tahoma"/>
              </a:rPr>
              <a:t>Underfitting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50">
                <a:latin typeface="Tahoma"/>
                <a:cs typeface="Tahoma"/>
              </a:rPr>
              <a:t>Occurs</a:t>
            </a:r>
            <a:r>
              <a:rPr dirty="0" sz="1400" spc="-5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when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model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is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too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simple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capture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underlying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patterns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in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data.</a:t>
            </a:r>
            <a:r>
              <a:rPr dirty="0" sz="1400" spc="-8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Results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in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high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training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and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testing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error.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 b="1">
                <a:latin typeface="Tahoma"/>
                <a:cs typeface="Tahoma"/>
              </a:rPr>
              <a:t>Overfitting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50">
                <a:latin typeface="Tahoma"/>
                <a:cs typeface="Tahoma"/>
              </a:rPr>
              <a:t>Occurs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when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model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learns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noise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and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specific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details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of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training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data.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Low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training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error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but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high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validation/testing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error.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70" b="1">
                <a:latin typeface="Tahoma"/>
                <a:cs typeface="Tahoma"/>
              </a:rPr>
              <a:t>Bias–Variance</a:t>
            </a:r>
            <a:r>
              <a:rPr dirty="0" sz="1400" spc="-60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Tradeoff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ahoma"/>
                <a:cs typeface="Tahoma"/>
              </a:rPr>
              <a:t>Bias: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Error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70">
                <a:latin typeface="Tahoma"/>
                <a:cs typeface="Tahoma"/>
              </a:rPr>
              <a:t>due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overly simple </a:t>
            </a:r>
            <a:r>
              <a:rPr dirty="0" sz="1400" spc="-10">
                <a:latin typeface="Tahoma"/>
                <a:cs typeface="Tahoma"/>
              </a:rPr>
              <a:t>assumptions.</a:t>
            </a:r>
            <a:endParaRPr sz="1400">
              <a:latin typeface="Tahoma"/>
              <a:cs typeface="Tahoma"/>
            </a:endParaRPr>
          </a:p>
          <a:p>
            <a:pPr marL="12700" marR="4335780">
              <a:lnSpc>
                <a:spcPct val="100000"/>
              </a:lnSpc>
            </a:pPr>
            <a:r>
              <a:rPr dirty="0" sz="1400">
                <a:latin typeface="Tahoma"/>
                <a:cs typeface="Tahoma"/>
              </a:rPr>
              <a:t>Variance: Error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70">
                <a:latin typeface="Tahoma"/>
                <a:cs typeface="Tahoma"/>
              </a:rPr>
              <a:t>due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sensitivity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small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fluctuations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training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data. </a:t>
            </a:r>
            <a:r>
              <a:rPr dirty="0" sz="1400" spc="140">
                <a:latin typeface="Tahoma"/>
                <a:cs typeface="Tahoma"/>
              </a:rPr>
              <a:t>A</a:t>
            </a:r>
            <a:r>
              <a:rPr dirty="0" sz="1400" spc="-55">
                <a:latin typeface="Tahoma"/>
                <a:cs typeface="Tahoma"/>
              </a:rPr>
              <a:t> </a:t>
            </a:r>
            <a:r>
              <a:rPr dirty="0" sz="1400" spc="95">
                <a:latin typeface="Tahoma"/>
                <a:cs typeface="Tahoma"/>
              </a:rPr>
              <a:t>good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model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maintains a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balance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45">
                <a:latin typeface="Tahoma"/>
                <a:cs typeface="Tahoma"/>
              </a:rPr>
              <a:t>between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bias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and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variance.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40" b="1">
                <a:latin typeface="Tahoma"/>
                <a:cs typeface="Tahoma"/>
              </a:rPr>
              <a:t>Learning</a:t>
            </a:r>
            <a:r>
              <a:rPr dirty="0" sz="1400" spc="-35" b="1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140">
                <a:latin typeface="Tahoma"/>
                <a:cs typeface="Tahoma"/>
              </a:rPr>
              <a:t>A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hyperparameter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that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controls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how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much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 spc="65">
                <a:latin typeface="Tahoma"/>
                <a:cs typeface="Tahoma"/>
              </a:rPr>
              <a:t>model</a:t>
            </a:r>
            <a:r>
              <a:rPr dirty="0" sz="1400">
                <a:latin typeface="Tahoma"/>
                <a:cs typeface="Tahoma"/>
              </a:rPr>
              <a:t> weights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are</a:t>
            </a:r>
            <a:r>
              <a:rPr dirty="0" sz="1400" spc="30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updated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during</a:t>
            </a:r>
            <a:r>
              <a:rPr dirty="0" sz="1400" spc="-10">
                <a:latin typeface="Tahoma"/>
                <a:cs typeface="Tahoma"/>
              </a:rPr>
              <a:t> training.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400">
                <a:latin typeface="Tahoma"/>
                <a:cs typeface="Tahoma"/>
              </a:rPr>
              <a:t>Too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high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→</a:t>
            </a:r>
            <a:r>
              <a:rPr dirty="0" sz="1400" spc="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Tahoma"/>
                <a:cs typeface="Tahoma"/>
              </a:rPr>
              <a:t>unstable</a:t>
            </a:r>
            <a:r>
              <a:rPr dirty="0" sz="1400" spc="-5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training.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75"/>
              </a:lnSpc>
              <a:spcBef>
                <a:spcPts val="5"/>
              </a:spcBef>
            </a:pPr>
            <a:r>
              <a:rPr dirty="0" sz="1400">
                <a:latin typeface="Tahoma"/>
                <a:cs typeface="Tahoma"/>
              </a:rPr>
              <a:t>Too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low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→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Tahoma"/>
                <a:cs typeface="Tahoma"/>
              </a:rPr>
              <a:t>slow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convergence.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5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 b="1">
                <a:latin typeface="Tahoma"/>
                <a:cs typeface="Tahoma"/>
              </a:rPr>
              <a:t>Pooling</a:t>
            </a:r>
            <a:r>
              <a:rPr dirty="0" sz="1400" spc="-75" b="1">
                <a:latin typeface="Tahoma"/>
                <a:cs typeface="Tahoma"/>
              </a:rPr>
              <a:t> </a:t>
            </a:r>
            <a:r>
              <a:rPr dirty="0" sz="1400" spc="-60" b="1">
                <a:latin typeface="Tahoma"/>
                <a:cs typeface="Tahoma"/>
              </a:rPr>
              <a:t>(Not</a:t>
            </a:r>
            <a:r>
              <a:rPr dirty="0" sz="1400" spc="-6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Polling)</a:t>
            </a:r>
            <a:endParaRPr sz="1400">
              <a:latin typeface="Tahoma"/>
              <a:cs typeface="Tahoma"/>
            </a:endParaRPr>
          </a:p>
          <a:p>
            <a:pPr marL="12700" marR="9525">
              <a:lnSpc>
                <a:spcPct val="100000"/>
              </a:lnSpc>
            </a:pPr>
            <a:r>
              <a:rPr dirty="0" sz="1400" spc="140">
                <a:latin typeface="Tahoma"/>
                <a:cs typeface="Tahoma"/>
              </a:rPr>
              <a:t>A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55">
                <a:latin typeface="Tahoma"/>
                <a:cs typeface="Tahoma"/>
              </a:rPr>
              <a:t>down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sampling</a:t>
            </a:r>
            <a:r>
              <a:rPr dirty="0" sz="1400" spc="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operation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</a:t>
            </a:r>
            <a:r>
              <a:rPr dirty="0" sz="1400" spc="45">
                <a:latin typeface="Tahoma"/>
                <a:cs typeface="Tahoma"/>
              </a:rPr>
              <a:t> </a:t>
            </a:r>
            <a:r>
              <a:rPr dirty="0" sz="1400" spc="100">
                <a:latin typeface="Tahoma"/>
                <a:cs typeface="Tahoma"/>
              </a:rPr>
              <a:t>CNNs</a:t>
            </a:r>
            <a:r>
              <a:rPr dirty="0" sz="1400" spc="8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that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reduces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spatial</a:t>
            </a:r>
            <a:r>
              <a:rPr dirty="0" sz="1400" spc="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dimensions</a:t>
            </a:r>
            <a:r>
              <a:rPr dirty="0" sz="1400" spc="2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of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feature</a:t>
            </a:r>
            <a:r>
              <a:rPr dirty="0" sz="1400" spc="2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maps</a:t>
            </a:r>
            <a:r>
              <a:rPr dirty="0" sz="1400" spc="6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(e.g.,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Max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Pooling,</a:t>
            </a:r>
            <a:r>
              <a:rPr dirty="0" sz="1400" spc="-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Average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Pooling), </a:t>
            </a:r>
            <a:r>
              <a:rPr dirty="0" sz="1400" spc="50">
                <a:latin typeface="Tahoma"/>
                <a:cs typeface="Tahoma"/>
              </a:rPr>
              <a:t>helping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reduce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computation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and</a:t>
            </a:r>
            <a:r>
              <a:rPr dirty="0" sz="1400" spc="1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overfitting.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20" b="1">
                <a:latin typeface="Tahoma"/>
                <a:cs typeface="Tahoma"/>
              </a:rPr>
              <a:t>Convolutional</a:t>
            </a:r>
            <a:r>
              <a:rPr dirty="0" sz="1400" spc="-35" b="1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65">
                <a:latin typeface="Tahoma"/>
                <a:cs typeface="Tahoma"/>
              </a:rPr>
              <a:t>Core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layer of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 spc="135">
                <a:latin typeface="Tahoma"/>
                <a:cs typeface="Tahoma"/>
              </a:rPr>
              <a:t>CNN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that </a:t>
            </a:r>
            <a:r>
              <a:rPr dirty="0" sz="1400">
                <a:latin typeface="Tahoma"/>
                <a:cs typeface="Tahoma"/>
              </a:rPr>
              <a:t>applies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filters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(kernels)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extract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spatial features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such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as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edges,</a:t>
            </a:r>
            <a:r>
              <a:rPr dirty="0" sz="1400" spc="-8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textures,</a:t>
            </a:r>
            <a:r>
              <a:rPr dirty="0" sz="1400" spc="-8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and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patterns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from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images.</a:t>
            </a:r>
            <a:endParaRPr sz="1400">
              <a:latin typeface="Tahoma"/>
              <a:cs typeface="Tahoma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dirty="0" sz="1400" spc="-30" b="1">
                <a:latin typeface="Tahoma"/>
                <a:cs typeface="Tahoma"/>
              </a:rPr>
              <a:t>Activation</a:t>
            </a:r>
            <a:r>
              <a:rPr dirty="0" sz="1400" spc="-4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Function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10">
                <a:latin typeface="Tahoma"/>
                <a:cs typeface="Tahoma"/>
              </a:rPr>
              <a:t>Introduces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non-linearity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into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the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network,</a:t>
            </a:r>
            <a:r>
              <a:rPr dirty="0" sz="1400" spc="-9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enabling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it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learn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45">
                <a:latin typeface="Tahoma"/>
                <a:cs typeface="Tahoma"/>
              </a:rPr>
              <a:t>complex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patterns.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55" b="1">
                <a:latin typeface="Tahoma"/>
                <a:cs typeface="Tahoma"/>
              </a:rPr>
              <a:t>Types</a:t>
            </a:r>
            <a:r>
              <a:rPr dirty="0" sz="1400" spc="-50" b="1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of</a:t>
            </a:r>
            <a:r>
              <a:rPr dirty="0" sz="1400" spc="-15" b="1">
                <a:latin typeface="Tahoma"/>
                <a:cs typeface="Tahoma"/>
              </a:rPr>
              <a:t> </a:t>
            </a:r>
            <a:r>
              <a:rPr dirty="0" sz="1400" spc="-30" b="1">
                <a:latin typeface="Tahoma"/>
                <a:cs typeface="Tahoma"/>
              </a:rPr>
              <a:t>Activation</a:t>
            </a:r>
            <a:r>
              <a:rPr dirty="0" sz="1400" spc="-7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Functions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Tahoma"/>
                <a:cs typeface="Tahoma"/>
              </a:rPr>
              <a:t>ReLU,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Sigmoid,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-35">
                <a:latin typeface="Tahoma"/>
                <a:cs typeface="Tahoma"/>
              </a:rPr>
              <a:t>Tanh,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Leaky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ReLU,</a:t>
            </a:r>
            <a:r>
              <a:rPr dirty="0" sz="1400" spc="-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Softmax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434">
                <a:latin typeface="Tahoma"/>
                <a:cs typeface="Tahoma"/>
              </a:rPr>
              <a:t>—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each</a:t>
            </a:r>
            <a:r>
              <a:rPr dirty="0" sz="1400" spc="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used </a:t>
            </a:r>
            <a:r>
              <a:rPr dirty="0" sz="1400" spc="75">
                <a:latin typeface="Tahoma"/>
                <a:cs typeface="Tahoma"/>
              </a:rPr>
              <a:t>depending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60">
                <a:latin typeface="Tahoma"/>
                <a:cs typeface="Tahoma"/>
              </a:rPr>
              <a:t>on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network </a:t>
            </a:r>
            <a:r>
              <a:rPr dirty="0" sz="1400" spc="60">
                <a:latin typeface="Tahoma"/>
                <a:cs typeface="Tahoma"/>
              </a:rPr>
              <a:t>depth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and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classification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type.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40" b="1">
                <a:latin typeface="Tahoma"/>
                <a:cs typeface="Tahoma"/>
              </a:rPr>
              <a:t>Regularization</a:t>
            </a:r>
            <a:r>
              <a:rPr dirty="0" sz="1400" spc="2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Concept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10">
                <a:latin typeface="Tahoma"/>
                <a:cs typeface="Tahoma"/>
              </a:rPr>
              <a:t>Techniques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used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prevent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overfitting,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such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as</a:t>
            </a:r>
            <a:r>
              <a:rPr dirty="0" sz="1400" spc="2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Dropout,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L1/L2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regularization,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and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Data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Augmentation.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628" rIns="0" bIns="0" rtlCol="0" vert="horz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Machine</a:t>
            </a:r>
            <a:r>
              <a:rPr dirty="0" spc="-75"/>
              <a:t> </a:t>
            </a:r>
            <a:r>
              <a:rPr dirty="0" spc="-45"/>
              <a:t>Learning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105"/>
              <a:t> </a:t>
            </a:r>
            <a:r>
              <a:rPr dirty="0"/>
              <a:t>Deep</a:t>
            </a:r>
            <a:r>
              <a:rPr dirty="0" spc="-80"/>
              <a:t> </a:t>
            </a:r>
            <a:r>
              <a:rPr dirty="0" spc="-45"/>
              <a:t>Learning</a:t>
            </a:r>
            <a:r>
              <a:rPr dirty="0" spc="-70"/>
              <a:t> </a:t>
            </a:r>
            <a:r>
              <a:rPr dirty="0" spc="-10"/>
              <a:t>Concepts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30">
                <a:latin typeface="Arial"/>
                <a:cs typeface="Arial"/>
              </a:rPr>
              <a:t>Current</a:t>
            </a:r>
            <a:r>
              <a:rPr dirty="0" sz="5400" spc="-175">
                <a:latin typeface="Arial"/>
                <a:cs typeface="Arial"/>
              </a:rPr>
              <a:t> </a:t>
            </a:r>
            <a:r>
              <a:rPr dirty="0" sz="5400" spc="-215">
                <a:latin typeface="Arial"/>
                <a:cs typeface="Arial"/>
              </a:rPr>
              <a:t>Progress:-</a:t>
            </a:r>
            <a:r>
              <a:rPr dirty="0" sz="5400" spc="-160">
                <a:latin typeface="Arial"/>
                <a:cs typeface="Arial"/>
              </a:rPr>
              <a:t> </a:t>
            </a:r>
            <a:r>
              <a:rPr dirty="0" sz="5400" spc="-615">
                <a:latin typeface="Arial"/>
                <a:cs typeface="Arial"/>
              </a:rPr>
              <a:t>RESNET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34897" y="1351914"/>
            <a:ext cx="9117330" cy="514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Constructed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curated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medical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image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dataset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consisting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10,000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labeled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samples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osteoporosis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classification.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Performed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systematic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preprocessing: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dirty="0" sz="1400">
                <a:latin typeface="Arial MT"/>
                <a:cs typeface="Arial MT"/>
              </a:rPr>
              <a:t>Image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resizing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normalization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augmentation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(to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reduce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overfitting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improve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generalization)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Stratified</a:t>
            </a:r>
            <a:r>
              <a:rPr dirty="0" sz="1400" spc="2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train</a:t>
            </a:r>
            <a:r>
              <a:rPr dirty="0" sz="1400">
                <a:latin typeface="Microsoft Sans Serif"/>
                <a:cs typeface="Microsoft Sans Serif"/>
              </a:rPr>
              <a:t>–</a:t>
            </a:r>
            <a:r>
              <a:rPr dirty="0" sz="1400">
                <a:latin typeface="Arial MT"/>
                <a:cs typeface="Arial MT"/>
              </a:rPr>
              <a:t>validation</a:t>
            </a:r>
            <a:r>
              <a:rPr dirty="0" sz="1400">
                <a:latin typeface="Microsoft Sans Serif"/>
                <a:cs typeface="Microsoft Sans Serif"/>
              </a:rPr>
              <a:t>–</a:t>
            </a:r>
            <a:r>
              <a:rPr dirty="0" sz="1400">
                <a:latin typeface="Arial MT"/>
                <a:cs typeface="Arial MT"/>
              </a:rPr>
              <a:t>test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split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Implemented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transfer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learning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two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state-</a:t>
            </a:r>
            <a:r>
              <a:rPr dirty="0" sz="1400" spc="-10">
                <a:latin typeface="Arial MT"/>
                <a:cs typeface="Arial MT"/>
              </a:rPr>
              <a:t>of-the-</a:t>
            </a:r>
            <a:r>
              <a:rPr dirty="0" sz="1400">
                <a:latin typeface="Arial MT"/>
                <a:cs typeface="Arial MT"/>
              </a:rPr>
              <a:t>art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CNN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architectures: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EfficientNet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(B3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variant)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b="1">
                <a:latin typeface="Arial"/>
                <a:cs typeface="Arial"/>
              </a:rPr>
              <a:t>ResNet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(pretrained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ImageNet)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Modified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final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fully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connected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layers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perform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binary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classification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(Osteoporosis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</a:t>
            </a:r>
            <a:r>
              <a:rPr dirty="0" sz="1400" spc="-10" b="1">
                <a:latin typeface="Arial"/>
                <a:cs typeface="Arial"/>
              </a:rPr>
              <a:t> Normal)</a:t>
            </a:r>
            <a:r>
              <a:rPr dirty="0" sz="1400" spc="-1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Trained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both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models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using: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dirty="0" sz="1400" spc="-10">
                <a:latin typeface="Arial MT"/>
                <a:cs typeface="Arial MT"/>
              </a:rPr>
              <a:t>Cross-</a:t>
            </a:r>
            <a:r>
              <a:rPr dirty="0" sz="1400">
                <a:latin typeface="Arial MT"/>
                <a:cs typeface="Arial MT"/>
              </a:rPr>
              <a:t>Entropy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Loss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Adam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optimizer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Learning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tuning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early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stopping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Monitored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model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performance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using: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Training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Validation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Curves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Accuracy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Curves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Confusion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Matrix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55">
                <a:latin typeface="Arial MT"/>
                <a:cs typeface="Arial MT"/>
              </a:rPr>
              <a:t>(TP,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TN,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70">
                <a:latin typeface="Arial MT"/>
                <a:cs typeface="Arial MT"/>
              </a:rPr>
              <a:t>FP,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FN</a:t>
            </a:r>
            <a:r>
              <a:rPr dirty="0" sz="1400" spc="-10">
                <a:latin typeface="Arial MT"/>
                <a:cs typeface="Arial MT"/>
              </a:rPr>
              <a:t> analysis)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dirty="0" sz="1400">
                <a:latin typeface="Arial MT"/>
                <a:cs typeface="Arial MT"/>
              </a:rPr>
              <a:t>ROC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Curve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and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AUC Score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threshold-independent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evaluation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Performed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comparative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analysis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EfficientNet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ResNet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evaluate: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Classification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accuracy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Sensitivity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&amp;</a:t>
            </a:r>
            <a:r>
              <a:rPr dirty="0" sz="1400" spc="-10">
                <a:latin typeface="Arial MT"/>
                <a:cs typeface="Arial MT"/>
              </a:rPr>
              <a:t> Specificity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Generalization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capability</a:t>
            </a:r>
            <a:endParaRPr sz="1400">
              <a:latin typeface="Arial MT"/>
              <a:cs typeface="Arial MT"/>
            </a:endParaRPr>
          </a:p>
          <a:p>
            <a:pPr marL="12700" marR="294005" indent="-762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Observed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stable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convergence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behavior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clinically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meaningful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prediction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performance,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indicating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feasibility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of </a:t>
            </a:r>
            <a:r>
              <a:rPr dirty="0" sz="1400">
                <a:latin typeface="Arial MT"/>
                <a:cs typeface="Arial MT"/>
              </a:rPr>
              <a:t>automated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osteoporosis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screening.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0756" y="36017"/>
            <a:ext cx="11320780" cy="6480810"/>
            <a:chOff x="100756" y="36017"/>
            <a:chExt cx="11320780" cy="6480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56" y="36017"/>
              <a:ext cx="3127248" cy="91610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1109" y="843572"/>
              <a:ext cx="8390382" cy="567309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9274" y="864870"/>
            <a:ext cx="1914525" cy="6356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35"/>
              <a:t>Sample</a:t>
            </a:r>
            <a:r>
              <a:rPr dirty="0" sz="2000" spc="-95"/>
              <a:t> </a:t>
            </a:r>
            <a:r>
              <a:rPr dirty="0" sz="2000" spc="-55"/>
              <a:t>data</a:t>
            </a:r>
            <a:r>
              <a:rPr dirty="0" sz="2000" spc="-75"/>
              <a:t> </a:t>
            </a:r>
            <a:r>
              <a:rPr dirty="0" sz="2000" spc="-25"/>
              <a:t>to </a:t>
            </a:r>
            <a:r>
              <a:rPr dirty="0" sz="2000" spc="-70"/>
              <a:t>train</a:t>
            </a:r>
            <a:r>
              <a:rPr dirty="0" sz="2000" spc="-85"/>
              <a:t> </a:t>
            </a:r>
            <a:r>
              <a:rPr dirty="0" sz="2000" spc="-45"/>
              <a:t>the</a:t>
            </a:r>
            <a:r>
              <a:rPr dirty="0" sz="2000" spc="-80"/>
              <a:t> </a:t>
            </a:r>
            <a:r>
              <a:rPr dirty="0" sz="2000" spc="-20"/>
              <a:t>model</a:t>
            </a:r>
            <a:endParaRPr sz="2000"/>
          </a:p>
        </p:txBody>
      </p:sp>
      <p:sp>
        <p:nvSpPr>
          <p:cNvPr id="6" name="object 6" descr=""/>
          <p:cNvSpPr txBox="1"/>
          <p:nvPr/>
        </p:nvSpPr>
        <p:spPr>
          <a:xfrm>
            <a:off x="880363" y="1541145"/>
            <a:ext cx="213614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16839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ahoma"/>
                <a:cs typeface="Tahoma"/>
              </a:rPr>
              <a:t>DATA</a:t>
            </a:r>
            <a:r>
              <a:rPr dirty="0" sz="1800" spc="-60" b="1">
                <a:latin typeface="Tahoma"/>
                <a:cs typeface="Tahoma"/>
              </a:rPr>
              <a:t> </a:t>
            </a:r>
            <a:r>
              <a:rPr dirty="0" sz="1800" spc="-10" b="1">
                <a:latin typeface="Tahoma"/>
                <a:cs typeface="Tahoma"/>
              </a:rPr>
              <a:t>COLLECTED FROM:-</a:t>
            </a:r>
            <a:endParaRPr sz="1800">
              <a:latin typeface="Tahoma"/>
              <a:cs typeface="Tahoma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 spc="-10">
                <a:latin typeface="Tahoma"/>
                <a:cs typeface="Tahoma"/>
              </a:rPr>
              <a:t>https://www.kaggle. com/datasets/tomm yngx/kneeoa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662" y="718184"/>
            <a:ext cx="57181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solidFill>
                  <a:srgbClr val="17365D"/>
                </a:solidFill>
                <a:latin typeface="Calibri"/>
                <a:cs typeface="Calibri"/>
              </a:rPr>
              <a:t>Model</a:t>
            </a:r>
            <a:r>
              <a:rPr dirty="0" sz="4400" spc="-5" b="0">
                <a:solidFill>
                  <a:srgbClr val="17365D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17365D"/>
                </a:solidFill>
                <a:latin typeface="Calibri"/>
                <a:cs typeface="Calibri"/>
              </a:rPr>
              <a:t>Evaluation </a:t>
            </a:r>
            <a:r>
              <a:rPr dirty="0" sz="4400" spc="-10" b="0">
                <a:solidFill>
                  <a:srgbClr val="17365D"/>
                </a:solidFill>
                <a:latin typeface="Calibri"/>
                <a:cs typeface="Calibri"/>
              </a:rPr>
              <a:t>Report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662" y="1582292"/>
            <a:ext cx="5895975" cy="3743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latin typeface="Cambria"/>
                <a:cs typeface="Cambria"/>
              </a:rPr>
              <a:t>This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report</a:t>
            </a:r>
            <a:r>
              <a:rPr dirty="0" sz="1800" spc="-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presents</a:t>
            </a:r>
            <a:r>
              <a:rPr dirty="0" sz="1800" spc="-1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the</a:t>
            </a:r>
            <a:r>
              <a:rPr dirty="0" sz="1800" spc="-2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evaluation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of</a:t>
            </a:r>
            <a:r>
              <a:rPr dirty="0" sz="1800" spc="-2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the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deep</a:t>
            </a:r>
            <a:r>
              <a:rPr dirty="0" sz="1800" spc="-2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learning </a:t>
            </a:r>
            <a:r>
              <a:rPr dirty="0" sz="1800">
                <a:latin typeface="Cambria"/>
                <a:cs typeface="Cambria"/>
              </a:rPr>
              <a:t>model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trained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for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X-</a:t>
            </a:r>
            <a:r>
              <a:rPr dirty="0" sz="1800">
                <a:latin typeface="Cambria"/>
                <a:cs typeface="Cambria"/>
              </a:rPr>
              <a:t>ray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image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classification.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 spc="-25">
                <a:latin typeface="Cambria"/>
                <a:cs typeface="Cambria"/>
              </a:rPr>
              <a:t>The </a:t>
            </a:r>
            <a:r>
              <a:rPr dirty="0" sz="1800">
                <a:latin typeface="Cambria"/>
                <a:cs typeface="Cambria"/>
              </a:rPr>
              <a:t>performance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is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analyzed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using</a:t>
            </a:r>
            <a:r>
              <a:rPr dirty="0" sz="1800" spc="-5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Accuracy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curves,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Loss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curves, </a:t>
            </a:r>
            <a:r>
              <a:rPr dirty="0" sz="1800">
                <a:latin typeface="Cambria"/>
                <a:cs typeface="Cambria"/>
              </a:rPr>
              <a:t>Confusion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Matrix,</a:t>
            </a:r>
            <a:r>
              <a:rPr dirty="0" sz="1800" spc="-2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and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ROC–AUC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metrics.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365F91"/>
                </a:solidFill>
                <a:latin typeface="Calibri"/>
                <a:cs typeface="Calibri"/>
              </a:rPr>
              <a:t>1.</a:t>
            </a:r>
            <a:r>
              <a:rPr dirty="0" sz="2400" spc="-4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65F91"/>
                </a:solidFill>
                <a:latin typeface="Calibri"/>
                <a:cs typeface="Calibri"/>
              </a:rPr>
              <a:t>Training</a:t>
            </a:r>
            <a:r>
              <a:rPr dirty="0" sz="2400" spc="-3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65F91"/>
                </a:solidFill>
                <a:latin typeface="Calibri"/>
                <a:cs typeface="Calibri"/>
              </a:rPr>
              <a:t>vs</a:t>
            </a:r>
            <a:r>
              <a:rPr dirty="0" sz="2400" spc="-3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365F91"/>
                </a:solidFill>
                <a:latin typeface="Calibri"/>
                <a:cs typeface="Calibri"/>
              </a:rPr>
              <a:t>Validation</a:t>
            </a:r>
            <a:r>
              <a:rPr dirty="0" sz="2400" spc="-3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65F91"/>
                </a:solidFill>
                <a:latin typeface="Calibri"/>
                <a:cs typeface="Calibri"/>
              </a:rPr>
              <a:t>Accuracy</a:t>
            </a:r>
            <a:endParaRPr sz="2400">
              <a:latin typeface="Calibri"/>
              <a:cs typeface="Calibri"/>
            </a:endParaRPr>
          </a:p>
          <a:p>
            <a:pPr marL="12700" marR="237490">
              <a:lnSpc>
                <a:spcPct val="114999"/>
              </a:lnSpc>
              <a:spcBef>
                <a:spcPts val="85"/>
              </a:spcBef>
            </a:pPr>
            <a:r>
              <a:rPr dirty="0" sz="1800" spc="-10">
                <a:latin typeface="Cambria"/>
                <a:cs typeface="Cambria"/>
              </a:rPr>
              <a:t>Training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accuracy</a:t>
            </a:r>
            <a:r>
              <a:rPr dirty="0" sz="1800" spc="-5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increased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steadily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from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approximately </a:t>
            </a:r>
            <a:r>
              <a:rPr dirty="0" sz="1800">
                <a:latin typeface="Cambria"/>
                <a:cs typeface="Cambria"/>
              </a:rPr>
              <a:t>56%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to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96%,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while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validation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accuracy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remained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around </a:t>
            </a:r>
            <a:r>
              <a:rPr dirty="0" sz="1800">
                <a:latin typeface="Cambria"/>
                <a:cs typeface="Cambria"/>
              </a:rPr>
              <a:t>58–64%.</a:t>
            </a:r>
            <a:r>
              <a:rPr dirty="0" sz="1800" spc="-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This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large</a:t>
            </a:r>
            <a:r>
              <a:rPr dirty="0" sz="1800" spc="-2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gap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indicates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that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the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model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performs </a:t>
            </a:r>
            <a:r>
              <a:rPr dirty="0" sz="1800">
                <a:latin typeface="Cambria"/>
                <a:cs typeface="Cambria"/>
              </a:rPr>
              <a:t>very</a:t>
            </a:r>
            <a:r>
              <a:rPr dirty="0" sz="1800" spc="-3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well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on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training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data</a:t>
            </a:r>
            <a:r>
              <a:rPr dirty="0" sz="1800" spc="-4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but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struggles</a:t>
            </a:r>
            <a:r>
              <a:rPr dirty="0" sz="1800" spc="-3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on</a:t>
            </a:r>
            <a:r>
              <a:rPr dirty="0" sz="1800" spc="-5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unseen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data.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800">
                <a:latin typeface="Cambria"/>
                <a:cs typeface="Cambria"/>
              </a:rPr>
              <a:t>Conclusion: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The</a:t>
            </a:r>
            <a:r>
              <a:rPr dirty="0" sz="1800" spc="-2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model</a:t>
            </a:r>
            <a:r>
              <a:rPr dirty="0" sz="1800" spc="-2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shows</a:t>
            </a:r>
            <a:r>
              <a:rPr dirty="0" sz="1800" spc="-2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signs</a:t>
            </a:r>
            <a:r>
              <a:rPr dirty="0" sz="1800" spc="-5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of</a:t>
            </a:r>
            <a:r>
              <a:rPr dirty="0" sz="1800" spc="-15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overfitting.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0636" y="801852"/>
            <a:ext cx="4744592" cy="50592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685" y="805941"/>
            <a:ext cx="470408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65F91"/>
                </a:solidFill>
                <a:latin typeface="Calibri"/>
                <a:cs typeface="Calibri"/>
              </a:rPr>
              <a:t>2.</a:t>
            </a:r>
            <a:r>
              <a:rPr dirty="0" sz="3200" spc="-16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3200" spc="-50">
                <a:solidFill>
                  <a:srgbClr val="365F91"/>
                </a:solidFill>
                <a:latin typeface="Calibri"/>
                <a:cs typeface="Calibri"/>
              </a:rPr>
              <a:t>Training</a:t>
            </a:r>
            <a:r>
              <a:rPr dirty="0" sz="3200" spc="-145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365F91"/>
                </a:solidFill>
                <a:latin typeface="Calibri"/>
                <a:cs typeface="Calibri"/>
              </a:rPr>
              <a:t>vs</a:t>
            </a:r>
            <a:r>
              <a:rPr dirty="0" sz="3200" spc="-12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3200" spc="-55">
                <a:solidFill>
                  <a:srgbClr val="365F91"/>
                </a:solidFill>
                <a:latin typeface="Calibri"/>
                <a:cs typeface="Calibri"/>
              </a:rPr>
              <a:t>Validation</a:t>
            </a:r>
            <a:r>
              <a:rPr dirty="0" sz="3200" spc="-15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365F91"/>
                </a:solidFill>
                <a:latin typeface="Calibri"/>
                <a:cs typeface="Calibri"/>
              </a:rPr>
              <a:t>Loss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62685" y="1317091"/>
            <a:ext cx="5349875" cy="2129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000" spc="-65">
                <a:latin typeface="Cambria"/>
                <a:cs typeface="Cambria"/>
              </a:rPr>
              <a:t>Training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loss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60">
                <a:latin typeface="Cambria"/>
                <a:cs typeface="Cambria"/>
              </a:rPr>
              <a:t>consistently</a:t>
            </a:r>
            <a:r>
              <a:rPr dirty="0" sz="2000" spc="-90">
                <a:latin typeface="Cambria"/>
                <a:cs typeface="Cambria"/>
              </a:rPr>
              <a:t> </a:t>
            </a:r>
            <a:r>
              <a:rPr dirty="0" sz="2000" spc="-60">
                <a:latin typeface="Cambria"/>
                <a:cs typeface="Cambria"/>
              </a:rPr>
              <a:t>decreased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during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training, </a:t>
            </a:r>
            <a:r>
              <a:rPr dirty="0" sz="2000" spc="-55">
                <a:latin typeface="Cambria"/>
                <a:cs typeface="Cambria"/>
              </a:rPr>
              <a:t>showing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65">
                <a:latin typeface="Cambria"/>
                <a:cs typeface="Cambria"/>
              </a:rPr>
              <a:t>effective </a:t>
            </a:r>
            <a:r>
              <a:rPr dirty="0" sz="2000" spc="-55">
                <a:latin typeface="Cambria"/>
                <a:cs typeface="Cambria"/>
              </a:rPr>
              <a:t>learning.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90">
                <a:latin typeface="Cambria"/>
                <a:cs typeface="Cambria"/>
              </a:rPr>
              <a:t>However,</a:t>
            </a:r>
            <a:r>
              <a:rPr dirty="0" sz="2000" spc="-35">
                <a:latin typeface="Cambria"/>
                <a:cs typeface="Cambria"/>
              </a:rPr>
              <a:t> </a:t>
            </a:r>
            <a:r>
              <a:rPr dirty="0" sz="2000" spc="-60">
                <a:latin typeface="Cambria"/>
                <a:cs typeface="Cambria"/>
              </a:rPr>
              <a:t>validation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loss </a:t>
            </a:r>
            <a:r>
              <a:rPr dirty="0" sz="2000" spc="-60">
                <a:latin typeface="Cambria"/>
                <a:cs typeface="Cambria"/>
              </a:rPr>
              <a:t>increased</a:t>
            </a:r>
            <a:r>
              <a:rPr dirty="0" sz="2000" spc="-85">
                <a:latin typeface="Cambria"/>
                <a:cs typeface="Cambria"/>
              </a:rPr>
              <a:t> </a:t>
            </a:r>
            <a:r>
              <a:rPr dirty="0" sz="2000" spc="-65">
                <a:latin typeface="Cambria"/>
                <a:cs typeface="Cambria"/>
              </a:rPr>
              <a:t>over </a:t>
            </a:r>
            <a:r>
              <a:rPr dirty="0" sz="2000" spc="-55">
                <a:latin typeface="Cambria"/>
                <a:cs typeface="Cambria"/>
              </a:rPr>
              <a:t>epochs,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55">
                <a:latin typeface="Cambria"/>
                <a:cs typeface="Cambria"/>
              </a:rPr>
              <a:t>which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 spc="-55">
                <a:latin typeface="Cambria"/>
                <a:cs typeface="Cambria"/>
              </a:rPr>
              <a:t>indicates</a:t>
            </a:r>
            <a:r>
              <a:rPr dirty="0" sz="2000" spc="-8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worsening </a:t>
            </a:r>
            <a:r>
              <a:rPr dirty="0" sz="2000" spc="-55">
                <a:latin typeface="Cambria"/>
                <a:cs typeface="Cambria"/>
              </a:rPr>
              <a:t>performance</a:t>
            </a:r>
            <a:r>
              <a:rPr dirty="0" sz="2000" spc="-110">
                <a:latin typeface="Cambria"/>
                <a:cs typeface="Cambria"/>
              </a:rPr>
              <a:t> </a:t>
            </a:r>
            <a:r>
              <a:rPr dirty="0" sz="2000" spc="-30">
                <a:latin typeface="Cambria"/>
                <a:cs typeface="Cambria"/>
              </a:rPr>
              <a:t>on</a:t>
            </a:r>
            <a:r>
              <a:rPr dirty="0" sz="2000" spc="-80">
                <a:latin typeface="Cambria"/>
                <a:cs typeface="Cambria"/>
              </a:rPr>
              <a:t> </a:t>
            </a:r>
            <a:r>
              <a:rPr dirty="0" sz="2000" spc="-55">
                <a:latin typeface="Cambria"/>
                <a:cs typeface="Cambria"/>
              </a:rPr>
              <a:t>unseen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  <a:p>
            <a:pPr marL="12700" marR="464184">
              <a:lnSpc>
                <a:spcPct val="114999"/>
              </a:lnSpc>
            </a:pPr>
            <a:r>
              <a:rPr dirty="0" sz="2000" spc="-55">
                <a:latin typeface="Cambria"/>
                <a:cs typeface="Cambria"/>
              </a:rPr>
              <a:t>Conclusion: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60">
                <a:latin typeface="Cambria"/>
                <a:cs typeface="Cambria"/>
              </a:rPr>
              <a:t>Increasing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60">
                <a:latin typeface="Cambria"/>
                <a:cs typeface="Cambria"/>
              </a:rPr>
              <a:t>validation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loss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alongside </a:t>
            </a:r>
            <a:r>
              <a:rPr dirty="0" sz="2000" spc="-60">
                <a:latin typeface="Cambria"/>
                <a:cs typeface="Cambria"/>
              </a:rPr>
              <a:t>decreasing</a:t>
            </a:r>
            <a:r>
              <a:rPr dirty="0" sz="2000" spc="-105">
                <a:latin typeface="Cambria"/>
                <a:cs typeface="Cambria"/>
              </a:rPr>
              <a:t> </a:t>
            </a:r>
            <a:r>
              <a:rPr dirty="0" sz="2000" spc="-55">
                <a:latin typeface="Cambria"/>
                <a:cs typeface="Cambria"/>
              </a:rPr>
              <a:t>training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loss </a:t>
            </a:r>
            <a:r>
              <a:rPr dirty="0" sz="2000" spc="-55">
                <a:latin typeface="Cambria"/>
                <a:cs typeface="Cambria"/>
              </a:rPr>
              <a:t>confirms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overfitting.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883" y="840232"/>
            <a:ext cx="5486399" cy="3657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08964" y="2714751"/>
            <a:ext cx="5499100" cy="0"/>
          </a:xfrm>
          <a:custGeom>
            <a:avLst/>
            <a:gdLst/>
            <a:ahLst/>
            <a:cxnLst/>
            <a:rect l="l" t="t" r="r" b="b"/>
            <a:pathLst>
              <a:path w="5499100" h="0">
                <a:moveTo>
                  <a:pt x="0" y="0"/>
                </a:moveTo>
                <a:lnTo>
                  <a:pt x="549907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08964" y="2219325"/>
          <a:ext cx="5575300" cy="3461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828800"/>
                <a:gridCol w="1828800"/>
              </a:tblGrid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Class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Approx</a:t>
                      </a:r>
                      <a:r>
                        <a:rPr dirty="0" sz="11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Observation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69%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45">
                          <a:latin typeface="Tahoma"/>
                          <a:cs typeface="Tahoma"/>
                        </a:rPr>
                        <a:t>Moderate</a:t>
                      </a:r>
                      <a:r>
                        <a:rPr dirty="0" sz="11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performance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  <a:tr h="10166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53%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Weak,</a:t>
                      </a:r>
                      <a:r>
                        <a:rPr dirty="0" sz="1100" spc="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highly</a:t>
                      </a:r>
                      <a:r>
                        <a:rPr dirty="0" sz="11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confused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1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nearby</a:t>
                      </a:r>
                      <a:r>
                        <a:rPr dirty="0" sz="11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classes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63%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35">
                          <a:latin typeface="Tahoma"/>
                          <a:cs typeface="Tahoma"/>
                        </a:rPr>
                        <a:t>Moderate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75%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60">
                          <a:latin typeface="Tahoma"/>
                          <a:cs typeface="Tahoma"/>
                        </a:rPr>
                        <a:t>Good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92%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Excellent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335" y="864870"/>
            <a:ext cx="344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365F91"/>
                </a:solidFill>
                <a:latin typeface="Calibri"/>
                <a:cs typeface="Calibri"/>
              </a:rPr>
              <a:t>3.</a:t>
            </a:r>
            <a:r>
              <a:rPr dirty="0" sz="2400" spc="-10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365F91"/>
                </a:solidFill>
                <a:latin typeface="Calibri"/>
                <a:cs typeface="Calibri"/>
              </a:rPr>
              <a:t>Confusion</a:t>
            </a:r>
            <a:r>
              <a:rPr dirty="0" sz="2400" spc="-9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365F91"/>
                </a:solidFill>
                <a:latin typeface="Calibri"/>
                <a:cs typeface="Calibri"/>
              </a:rPr>
              <a:t>Matrix</a:t>
            </a:r>
            <a:r>
              <a:rPr dirty="0" sz="2400" spc="-9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2335" y="1244346"/>
            <a:ext cx="8707755" cy="84836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260"/>
              </a:spcBef>
            </a:pPr>
            <a:r>
              <a:rPr dirty="0" sz="1800" spc="-40">
                <a:latin typeface="Cambria"/>
                <a:cs typeface="Cambria"/>
              </a:rPr>
              <a:t>The</a:t>
            </a:r>
            <a:r>
              <a:rPr dirty="0" sz="1800" spc="-90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confusion</a:t>
            </a:r>
            <a:r>
              <a:rPr dirty="0" sz="1800" spc="-95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matrix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shows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45">
                <a:latin typeface="Cambria"/>
                <a:cs typeface="Cambria"/>
              </a:rPr>
              <a:t>how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well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40">
                <a:latin typeface="Cambria"/>
                <a:cs typeface="Cambria"/>
              </a:rPr>
              <a:t>each</a:t>
            </a:r>
            <a:r>
              <a:rPr dirty="0" sz="1800" spc="-60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class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is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predicted.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50">
                <a:latin typeface="Cambria"/>
                <a:cs typeface="Cambria"/>
              </a:rPr>
              <a:t>Diagonal</a:t>
            </a:r>
            <a:r>
              <a:rPr dirty="0" sz="1800" spc="-90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values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represent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correct </a:t>
            </a:r>
            <a:r>
              <a:rPr dirty="0" sz="1800" spc="-60">
                <a:latin typeface="Cambria"/>
                <a:cs typeface="Cambria"/>
              </a:rPr>
              <a:t>predictions,</a:t>
            </a:r>
            <a:r>
              <a:rPr dirty="0" sz="1800" spc="-85">
                <a:latin typeface="Cambria"/>
                <a:cs typeface="Cambria"/>
              </a:rPr>
              <a:t> </a:t>
            </a:r>
            <a:r>
              <a:rPr dirty="0" sz="1800" spc="-50">
                <a:latin typeface="Cambria"/>
                <a:cs typeface="Cambria"/>
              </a:rPr>
              <a:t>while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off-</a:t>
            </a:r>
            <a:r>
              <a:rPr dirty="0" sz="1800" spc="-45">
                <a:latin typeface="Cambria"/>
                <a:cs typeface="Cambria"/>
              </a:rPr>
              <a:t>diagonal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values</a:t>
            </a:r>
            <a:r>
              <a:rPr dirty="0" sz="1800" spc="-45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indicate</a:t>
            </a:r>
            <a:r>
              <a:rPr dirty="0" sz="1800" spc="-8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misclassification.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800" spc="-60">
                <a:latin typeface="Cambria"/>
                <a:cs typeface="Cambria"/>
              </a:rPr>
              <a:t>Overall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accuracy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≈</a:t>
            </a:r>
            <a:r>
              <a:rPr dirty="0" sz="1800" spc="-65">
                <a:latin typeface="Cambria"/>
                <a:cs typeface="Cambria"/>
              </a:rPr>
              <a:t> </a:t>
            </a:r>
            <a:r>
              <a:rPr dirty="0" sz="1800" spc="-50">
                <a:latin typeface="Cambria"/>
                <a:cs typeface="Cambria"/>
              </a:rPr>
              <a:t>66%. Most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confusion</a:t>
            </a:r>
            <a:r>
              <a:rPr dirty="0" sz="1800" spc="-100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occurs</a:t>
            </a:r>
            <a:r>
              <a:rPr dirty="0" sz="1800" spc="-85">
                <a:latin typeface="Cambria"/>
                <a:cs typeface="Cambria"/>
              </a:rPr>
              <a:t> </a:t>
            </a:r>
            <a:r>
              <a:rPr dirty="0" sz="1800" spc="-60">
                <a:latin typeface="Cambria"/>
                <a:cs typeface="Cambria"/>
              </a:rPr>
              <a:t>between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similar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55">
                <a:latin typeface="Cambria"/>
                <a:cs typeface="Cambria"/>
              </a:rPr>
              <a:t>classes</a:t>
            </a:r>
            <a:r>
              <a:rPr dirty="0" sz="1800" spc="-70">
                <a:latin typeface="Cambria"/>
                <a:cs typeface="Cambria"/>
              </a:rPr>
              <a:t> </a:t>
            </a:r>
            <a:r>
              <a:rPr dirty="0" sz="1800" spc="-40">
                <a:latin typeface="Cambria"/>
                <a:cs typeface="Cambria"/>
              </a:rPr>
              <a:t>0,</a:t>
            </a:r>
            <a:r>
              <a:rPr dirty="0" sz="1800" spc="-55">
                <a:latin typeface="Cambria"/>
                <a:cs typeface="Cambria"/>
              </a:rPr>
              <a:t> </a:t>
            </a:r>
            <a:r>
              <a:rPr dirty="0" sz="1800" spc="-35">
                <a:latin typeface="Cambria"/>
                <a:cs typeface="Cambria"/>
              </a:rPr>
              <a:t>1,</a:t>
            </a:r>
            <a:r>
              <a:rPr dirty="0" sz="1800" spc="-50">
                <a:latin typeface="Cambria"/>
                <a:cs typeface="Cambria"/>
              </a:rPr>
              <a:t> </a:t>
            </a:r>
            <a:r>
              <a:rPr dirty="0" sz="1800" spc="-45">
                <a:latin typeface="Cambria"/>
                <a:cs typeface="Cambria"/>
              </a:rPr>
              <a:t>and</a:t>
            </a:r>
            <a:r>
              <a:rPr dirty="0" sz="1800" spc="-75">
                <a:latin typeface="Cambria"/>
                <a:cs typeface="Cambria"/>
              </a:rPr>
              <a:t> </a:t>
            </a:r>
            <a:r>
              <a:rPr dirty="0" sz="1800" spc="-25">
                <a:latin typeface="Cambria"/>
                <a:cs typeface="Cambria"/>
              </a:rPr>
              <a:t>2.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871" y="2512083"/>
            <a:ext cx="3687180" cy="3343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6767" y="2243073"/>
            <a:ext cx="5499100" cy="0"/>
          </a:xfrm>
          <a:custGeom>
            <a:avLst/>
            <a:gdLst/>
            <a:ahLst/>
            <a:cxnLst/>
            <a:rect l="l" t="t" r="r" b="b"/>
            <a:pathLst>
              <a:path w="5499100" h="0">
                <a:moveTo>
                  <a:pt x="0" y="0"/>
                </a:moveTo>
                <a:lnTo>
                  <a:pt x="549903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06767" y="1721485"/>
          <a:ext cx="5575300" cy="308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828800"/>
                <a:gridCol w="1828800"/>
              </a:tblGrid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Class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AUC</a:t>
                      </a:r>
                      <a:r>
                        <a:rPr dirty="0" sz="11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Score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0.90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Excellent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0.75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100" spc="35">
                          <a:latin typeface="Tahoma"/>
                          <a:cs typeface="Tahoma"/>
                        </a:rPr>
                        <a:t>Moderate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0.88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Very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60">
                          <a:latin typeface="Tahoma"/>
                          <a:cs typeface="Tahoma"/>
                        </a:rPr>
                        <a:t>Good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0.96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Outstanding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1.00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Perfect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9650" y="777366"/>
            <a:ext cx="274129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>
                <a:solidFill>
                  <a:srgbClr val="365F91"/>
                </a:solidFill>
                <a:latin typeface="Calibri"/>
                <a:cs typeface="Calibri"/>
              </a:rPr>
              <a:t>4.</a:t>
            </a:r>
            <a:r>
              <a:rPr dirty="0" sz="2000" spc="-85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000" spc="-65">
                <a:solidFill>
                  <a:srgbClr val="365F91"/>
                </a:solidFill>
                <a:latin typeface="Calibri"/>
                <a:cs typeface="Calibri"/>
              </a:rPr>
              <a:t>ROC–AUC</a:t>
            </a:r>
            <a:r>
              <a:rPr dirty="0" sz="2000" spc="-9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000" spc="-55">
                <a:solidFill>
                  <a:srgbClr val="365F91"/>
                </a:solidFill>
                <a:latin typeface="Calibri"/>
                <a:cs typeface="Calibri"/>
              </a:rPr>
              <a:t>Curve</a:t>
            </a:r>
            <a:r>
              <a:rPr dirty="0" sz="2000" spc="-65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9650" y="1069365"/>
            <a:ext cx="100793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dirty="0" sz="1600" spc="-50">
                <a:latin typeface="Cambria"/>
                <a:cs typeface="Cambria"/>
              </a:rPr>
              <a:t>The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 spc="-75">
                <a:latin typeface="Cambria"/>
                <a:cs typeface="Cambria"/>
              </a:rPr>
              <a:t>ROC–AUC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curves measure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45">
                <a:latin typeface="Cambria"/>
                <a:cs typeface="Cambria"/>
              </a:rPr>
              <a:t>the</a:t>
            </a:r>
            <a:r>
              <a:rPr dirty="0" sz="1600" spc="-55">
                <a:latin typeface="Cambria"/>
                <a:cs typeface="Cambria"/>
              </a:rPr>
              <a:t> model's</a:t>
            </a:r>
            <a:r>
              <a:rPr dirty="0" sz="1600" spc="-9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ability</a:t>
            </a:r>
            <a:r>
              <a:rPr dirty="0" sz="1600" spc="-30">
                <a:latin typeface="Cambria"/>
                <a:cs typeface="Cambria"/>
              </a:rPr>
              <a:t> </a:t>
            </a:r>
            <a:r>
              <a:rPr dirty="0" sz="1600" spc="-40">
                <a:latin typeface="Cambria"/>
                <a:cs typeface="Cambria"/>
              </a:rPr>
              <a:t>to</a:t>
            </a:r>
            <a:r>
              <a:rPr dirty="0" sz="1600" spc="-65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separate</a:t>
            </a:r>
            <a:r>
              <a:rPr dirty="0" sz="1600" spc="-7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classes.</a:t>
            </a:r>
            <a:r>
              <a:rPr dirty="0" sz="1600" spc="-75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Higher</a:t>
            </a:r>
            <a:r>
              <a:rPr dirty="0" sz="1600" spc="-4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AUC</a:t>
            </a:r>
            <a:r>
              <a:rPr dirty="0" sz="1600" spc="-55">
                <a:latin typeface="Cambria"/>
                <a:cs typeface="Cambria"/>
              </a:rPr>
              <a:t> </a:t>
            </a:r>
            <a:r>
              <a:rPr dirty="0" sz="1600" spc="-65">
                <a:latin typeface="Cambria"/>
                <a:cs typeface="Cambria"/>
              </a:rPr>
              <a:t>values</a:t>
            </a:r>
            <a:r>
              <a:rPr dirty="0" sz="1600" spc="-3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indicate</a:t>
            </a:r>
            <a:r>
              <a:rPr dirty="0" sz="1600" spc="-70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better</a:t>
            </a:r>
            <a:r>
              <a:rPr dirty="0" sz="1600" spc="-100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discrimination. </a:t>
            </a:r>
            <a:r>
              <a:rPr dirty="0" sz="1600" spc="-55">
                <a:latin typeface="Cambria"/>
                <a:cs typeface="Cambria"/>
              </a:rPr>
              <a:t>Despite</a:t>
            </a:r>
            <a:r>
              <a:rPr dirty="0" sz="1600" spc="-75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moderate</a:t>
            </a:r>
            <a:r>
              <a:rPr dirty="0" sz="1600" spc="-90">
                <a:latin typeface="Cambria"/>
                <a:cs typeface="Cambria"/>
              </a:rPr>
              <a:t> </a:t>
            </a:r>
            <a:r>
              <a:rPr dirty="0" sz="1600" spc="-75">
                <a:latin typeface="Cambria"/>
                <a:cs typeface="Cambria"/>
              </a:rPr>
              <a:t>accuracy,</a:t>
            </a:r>
            <a:r>
              <a:rPr dirty="0" sz="1600" spc="-60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high </a:t>
            </a:r>
            <a:r>
              <a:rPr dirty="0" sz="1600" spc="-60">
                <a:latin typeface="Cambria"/>
                <a:cs typeface="Cambria"/>
              </a:rPr>
              <a:t>AUC</a:t>
            </a:r>
            <a:r>
              <a:rPr dirty="0" sz="1600" spc="-55">
                <a:latin typeface="Cambria"/>
                <a:cs typeface="Cambria"/>
              </a:rPr>
              <a:t> scores</a:t>
            </a:r>
            <a:r>
              <a:rPr dirty="0" sz="1600" spc="-80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show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50">
                <a:latin typeface="Cambria"/>
                <a:cs typeface="Cambria"/>
              </a:rPr>
              <a:t>that</a:t>
            </a:r>
            <a:r>
              <a:rPr dirty="0" sz="1600" spc="-65">
                <a:latin typeface="Cambria"/>
                <a:cs typeface="Cambria"/>
              </a:rPr>
              <a:t> </a:t>
            </a:r>
            <a:r>
              <a:rPr dirty="0" sz="1600" spc="-45">
                <a:latin typeface="Cambria"/>
                <a:cs typeface="Cambria"/>
              </a:rPr>
              <a:t>the</a:t>
            </a:r>
            <a:r>
              <a:rPr dirty="0" sz="1600" spc="-60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model</a:t>
            </a:r>
            <a:r>
              <a:rPr dirty="0" sz="1600" spc="-75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separates</a:t>
            </a:r>
            <a:r>
              <a:rPr dirty="0" sz="1600" spc="-80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classes</a:t>
            </a:r>
            <a:r>
              <a:rPr dirty="0" sz="1600" spc="-60">
                <a:latin typeface="Cambria"/>
                <a:cs typeface="Cambria"/>
              </a:rPr>
              <a:t> </a:t>
            </a:r>
            <a:r>
              <a:rPr dirty="0" sz="1600" spc="-70">
                <a:latin typeface="Cambria"/>
                <a:cs typeface="Cambria"/>
              </a:rPr>
              <a:t>effectively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50">
                <a:latin typeface="Cambria"/>
                <a:cs typeface="Cambria"/>
              </a:rPr>
              <a:t>and</a:t>
            </a:r>
            <a:r>
              <a:rPr dirty="0" sz="1600" spc="-60">
                <a:latin typeface="Cambria"/>
                <a:cs typeface="Cambria"/>
              </a:rPr>
              <a:t> </a:t>
            </a:r>
            <a:r>
              <a:rPr dirty="0" sz="1600" spc="-55">
                <a:latin typeface="Cambria"/>
                <a:cs typeface="Cambria"/>
              </a:rPr>
              <a:t>learns</a:t>
            </a:r>
            <a:r>
              <a:rPr dirty="0" sz="1600" spc="-65">
                <a:latin typeface="Cambria"/>
                <a:cs typeface="Cambria"/>
              </a:rPr>
              <a:t> </a:t>
            </a:r>
            <a:r>
              <a:rPr dirty="0" sz="1600" spc="-60">
                <a:latin typeface="Cambria"/>
                <a:cs typeface="Cambria"/>
              </a:rPr>
              <a:t>meaningful</a:t>
            </a:r>
            <a:r>
              <a:rPr dirty="0" sz="1600" spc="-4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features.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9453" y="1727758"/>
            <a:ext cx="4956175" cy="4380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24534" y="836421"/>
            <a:ext cx="2367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CLASSIFICATION</a:t>
            </a:r>
            <a:r>
              <a:rPr dirty="0" sz="1800" spc="-9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65F91"/>
                </a:solidFill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10640" y="1526921"/>
          <a:ext cx="4102735" cy="4568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/>
                <a:gridCol w="2945130"/>
              </a:tblGrid>
              <a:tr h="424180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dirty="0" sz="1800" spc="-1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710"/>
                        </a:lnSpc>
                        <a:tabLst>
                          <a:tab pos="1556385" algn="l"/>
                        </a:tabLst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r>
                        <a:rPr dirty="0" sz="1800" spc="39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f1-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1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61976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800" spc="-1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0.80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0.69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0.74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328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800" spc="-1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0.38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0.53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0.44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153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61976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800" spc="-1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0.68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0.63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0.66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800" spc="-1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0.78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0.75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0.77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800" spc="-1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81885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0.83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0.93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61976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800" spc="-1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1289050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206375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0.66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  <a:tr h="424180">
                <a:tc>
                  <a:txBody>
                    <a:bodyPr/>
                    <a:lstStyle/>
                    <a:p>
                      <a:pPr marL="83185">
                        <a:lnSpc>
                          <a:spcPts val="2150"/>
                        </a:lnSpc>
                        <a:spcBef>
                          <a:spcPts val="1090"/>
                        </a:spcBef>
                      </a:pP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dirty="0" sz="1800" spc="-1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ts val="2150"/>
                        </a:lnSpc>
                        <a:spcBef>
                          <a:spcPts val="1090"/>
                        </a:spcBef>
                        <a:tabLst>
                          <a:tab pos="1068070" algn="l"/>
                          <a:tab pos="1790064" algn="l"/>
                          <a:tab pos="2565400" algn="l"/>
                        </a:tabLst>
                      </a:pP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0.69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0.71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0.70</a:t>
                      </a:r>
                      <a:r>
                        <a:rPr dirty="0" sz="1800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3843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24534" y="6420103"/>
            <a:ext cx="4223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  <a:tab pos="2367280" algn="l"/>
                <a:tab pos="3088640" algn="l"/>
                <a:tab pos="3862704" algn="l"/>
              </a:tabLst>
            </a:pP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weighted</a:t>
            </a:r>
            <a:r>
              <a:rPr dirty="0" sz="1800" spc="-25" b="1">
                <a:solidFill>
                  <a:srgbClr val="365F91"/>
                </a:solidFill>
                <a:latin typeface="Calibri"/>
                <a:cs typeface="Calibri"/>
              </a:rPr>
              <a:t> avg</a:t>
            </a: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dirty="0" sz="1800" spc="-20" b="1">
                <a:solidFill>
                  <a:srgbClr val="365F91"/>
                </a:solidFill>
                <a:latin typeface="Calibri"/>
                <a:cs typeface="Calibri"/>
              </a:rPr>
              <a:t>0.69</a:t>
            </a: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dirty="0" sz="1800" spc="-20" b="1">
                <a:solidFill>
                  <a:srgbClr val="365F91"/>
                </a:solidFill>
                <a:latin typeface="Calibri"/>
                <a:cs typeface="Calibri"/>
              </a:rPr>
              <a:t>0.66</a:t>
            </a: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dirty="0" sz="1800" spc="-20" b="1">
                <a:solidFill>
                  <a:srgbClr val="365F91"/>
                </a:solidFill>
                <a:latin typeface="Calibri"/>
                <a:cs typeface="Calibri"/>
              </a:rPr>
              <a:t>0.67</a:t>
            </a:r>
            <a:r>
              <a:rPr dirty="0" sz="1800" b="1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dirty="0" sz="1800" spc="-25" b="1">
                <a:solidFill>
                  <a:srgbClr val="365F91"/>
                </a:solidFill>
                <a:latin typeface="Calibri"/>
                <a:cs typeface="Calibri"/>
              </a:rPr>
              <a:t>826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192" y="905780"/>
            <a:ext cx="3121025" cy="2832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14">
                <a:solidFill>
                  <a:srgbClr val="365F91"/>
                </a:solidFill>
                <a:latin typeface="Calibri"/>
                <a:cs typeface="Calibri"/>
              </a:rPr>
              <a:t>Classification</a:t>
            </a:r>
            <a:r>
              <a:rPr dirty="0" sz="1700" spc="9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700" spc="135">
                <a:solidFill>
                  <a:srgbClr val="365F91"/>
                </a:solidFill>
                <a:latin typeface="Calibri"/>
                <a:cs typeface="Calibri"/>
              </a:rPr>
              <a:t>Report</a:t>
            </a:r>
            <a:r>
              <a:rPr dirty="0" sz="1700" spc="85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700" spc="12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9192" y="1416473"/>
            <a:ext cx="7851775" cy="278765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23240">
              <a:lnSpc>
                <a:spcPts val="1660"/>
              </a:lnSpc>
              <a:spcBef>
                <a:spcPts val="215"/>
              </a:spcBef>
            </a:pPr>
            <a:r>
              <a:rPr dirty="0" sz="1450" spc="135">
                <a:latin typeface="Times New Roman"/>
                <a:cs typeface="Times New Roman"/>
              </a:rPr>
              <a:t>The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classification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report</a:t>
            </a:r>
            <a:r>
              <a:rPr dirty="0" sz="1450" spc="9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provides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precision,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90">
                <a:latin typeface="Times New Roman"/>
                <a:cs typeface="Times New Roman"/>
              </a:rPr>
              <a:t>recall,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and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F1-score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95">
                <a:latin typeface="Times New Roman"/>
                <a:cs typeface="Times New Roman"/>
              </a:rPr>
              <a:t>for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each</a:t>
            </a:r>
            <a:r>
              <a:rPr dirty="0" sz="1450" spc="95">
                <a:latin typeface="Times New Roman"/>
                <a:cs typeface="Times New Roman"/>
              </a:rPr>
              <a:t> class.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The </a:t>
            </a:r>
            <a:r>
              <a:rPr dirty="0" sz="1450" spc="100">
                <a:latin typeface="Times New Roman"/>
                <a:cs typeface="Times New Roman"/>
              </a:rPr>
              <a:t>overall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accuracy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of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the</a:t>
            </a:r>
            <a:r>
              <a:rPr dirty="0" sz="1450" spc="65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model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90">
                <a:latin typeface="Times New Roman"/>
                <a:cs typeface="Times New Roman"/>
              </a:rPr>
              <a:t>is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70" b="1">
                <a:latin typeface="Times New Roman"/>
                <a:cs typeface="Times New Roman"/>
              </a:rPr>
              <a:t>66%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with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weighted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F1-score</a:t>
            </a:r>
            <a:r>
              <a:rPr dirty="0" sz="1450" spc="6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of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90" b="1">
                <a:latin typeface="Times New Roman"/>
                <a:cs typeface="Times New Roman"/>
              </a:rPr>
              <a:t>0.67</a:t>
            </a:r>
            <a:r>
              <a:rPr dirty="0" sz="1450" spc="9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  <a:p>
            <a:pPr marL="12700" marR="103505">
              <a:lnSpc>
                <a:spcPct val="95600"/>
              </a:lnSpc>
              <a:spcBef>
                <a:spcPts val="1650"/>
              </a:spcBef>
            </a:pPr>
            <a:r>
              <a:rPr dirty="0" sz="1450" spc="105">
                <a:latin typeface="Times New Roman"/>
                <a:cs typeface="Times New Roman"/>
              </a:rPr>
              <a:t>Class-</a:t>
            </a:r>
            <a:r>
              <a:rPr dirty="0" sz="1450" spc="114">
                <a:latin typeface="Times New Roman"/>
                <a:cs typeface="Times New Roman"/>
              </a:rPr>
              <a:t>wise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analysis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shows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that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0" b="1">
                <a:latin typeface="Times New Roman"/>
                <a:cs typeface="Times New Roman"/>
              </a:rPr>
              <a:t>Class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30" b="1">
                <a:latin typeface="Times New Roman"/>
                <a:cs typeface="Times New Roman"/>
              </a:rPr>
              <a:t>4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25" b="1">
                <a:latin typeface="Times New Roman"/>
                <a:cs typeface="Times New Roman"/>
              </a:rPr>
              <a:t>performs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10" b="1">
                <a:latin typeface="Times New Roman"/>
                <a:cs typeface="Times New Roman"/>
              </a:rPr>
              <a:t>best</a:t>
            </a:r>
            <a:r>
              <a:rPr dirty="0" sz="1450" spc="85" b="1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with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5">
                <a:latin typeface="Times New Roman"/>
                <a:cs typeface="Times New Roman"/>
              </a:rPr>
              <a:t>an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F1-</a:t>
            </a:r>
            <a:r>
              <a:rPr dirty="0" sz="1450" spc="110">
                <a:latin typeface="Times New Roman"/>
                <a:cs typeface="Times New Roman"/>
              </a:rPr>
              <a:t>score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of</a:t>
            </a:r>
            <a:r>
              <a:rPr dirty="0" sz="1450" spc="90">
                <a:latin typeface="Times New Roman"/>
                <a:cs typeface="Times New Roman"/>
              </a:rPr>
              <a:t> </a:t>
            </a:r>
            <a:r>
              <a:rPr dirty="0" sz="1450" spc="90" b="1">
                <a:latin typeface="Times New Roman"/>
                <a:cs typeface="Times New Roman"/>
              </a:rPr>
              <a:t>0.88</a:t>
            </a:r>
            <a:r>
              <a:rPr dirty="0" sz="1450" spc="90">
                <a:latin typeface="Times New Roman"/>
                <a:cs typeface="Times New Roman"/>
              </a:rPr>
              <a:t>, </a:t>
            </a:r>
            <a:r>
              <a:rPr dirty="0" sz="1450" spc="105">
                <a:latin typeface="Times New Roman"/>
                <a:cs typeface="Times New Roman"/>
              </a:rPr>
              <a:t>indicating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excellent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prediction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capability.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Classes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3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5">
                <a:latin typeface="Times New Roman"/>
                <a:cs typeface="Times New Roman"/>
              </a:rPr>
              <a:t>and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0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also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35">
                <a:latin typeface="Times New Roman"/>
                <a:cs typeface="Times New Roman"/>
              </a:rPr>
              <a:t>show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strong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performance </a:t>
            </a:r>
            <a:r>
              <a:rPr dirty="0" sz="1450" spc="114">
                <a:latin typeface="Times New Roman"/>
                <a:cs typeface="Times New Roman"/>
              </a:rPr>
              <a:t>with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F1-scores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above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05" b="1">
                <a:latin typeface="Times New Roman"/>
                <a:cs typeface="Times New Roman"/>
              </a:rPr>
              <a:t>0.74</a:t>
            </a:r>
            <a:r>
              <a:rPr dirty="0" sz="1450" spc="105">
                <a:latin typeface="Times New Roman"/>
                <a:cs typeface="Times New Roman"/>
              </a:rPr>
              <a:t>.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5">
                <a:latin typeface="Times New Roman"/>
                <a:cs typeface="Times New Roman"/>
              </a:rPr>
              <a:t>However,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10" b="1">
                <a:latin typeface="Times New Roman"/>
                <a:cs typeface="Times New Roman"/>
              </a:rPr>
              <a:t>Class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30" b="1">
                <a:latin typeface="Times New Roman"/>
                <a:cs typeface="Times New Roman"/>
              </a:rPr>
              <a:t>1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05" b="1">
                <a:latin typeface="Times New Roman"/>
                <a:cs typeface="Times New Roman"/>
              </a:rPr>
              <a:t>exhibits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spc="130" b="1">
                <a:latin typeface="Times New Roman"/>
                <a:cs typeface="Times New Roman"/>
              </a:rPr>
              <a:t>weaker</a:t>
            </a:r>
            <a:r>
              <a:rPr dirty="0" sz="1450" spc="70" b="1">
                <a:latin typeface="Times New Roman"/>
                <a:cs typeface="Times New Roman"/>
              </a:rPr>
              <a:t> </a:t>
            </a:r>
            <a:r>
              <a:rPr dirty="0" sz="1450" spc="130" b="1">
                <a:latin typeface="Times New Roman"/>
                <a:cs typeface="Times New Roman"/>
              </a:rPr>
              <a:t>performance</a:t>
            </a:r>
            <a:r>
              <a:rPr dirty="0" sz="1450" spc="90" b="1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with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low </a:t>
            </a:r>
            <a:r>
              <a:rPr dirty="0" sz="1450" spc="105">
                <a:latin typeface="Times New Roman"/>
                <a:cs typeface="Times New Roman"/>
              </a:rPr>
              <a:t>precision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of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10" b="1">
                <a:latin typeface="Times New Roman"/>
                <a:cs typeface="Times New Roman"/>
              </a:rPr>
              <a:t>0.38</a:t>
            </a:r>
            <a:r>
              <a:rPr dirty="0" sz="1450" spc="90" b="1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and</a:t>
            </a:r>
            <a:r>
              <a:rPr dirty="0" sz="1450" spc="100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F1-</a:t>
            </a:r>
            <a:r>
              <a:rPr dirty="0" sz="1450" spc="110">
                <a:latin typeface="Times New Roman"/>
                <a:cs typeface="Times New Roman"/>
              </a:rPr>
              <a:t>score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of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0" b="1">
                <a:latin typeface="Times New Roman"/>
                <a:cs typeface="Times New Roman"/>
              </a:rPr>
              <a:t>0.44</a:t>
            </a:r>
            <a:r>
              <a:rPr dirty="0" sz="1450" spc="100">
                <a:latin typeface="Times New Roman"/>
                <a:cs typeface="Times New Roman"/>
              </a:rPr>
              <a:t>,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suggesting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95">
                <a:latin typeface="Times New Roman"/>
                <a:cs typeface="Times New Roman"/>
              </a:rPr>
              <a:t>significant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misclassification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95">
                <a:latin typeface="Times New Roman"/>
                <a:cs typeface="Times New Roman"/>
              </a:rPr>
              <a:t>and </a:t>
            </a:r>
            <a:r>
              <a:rPr dirty="0" sz="1450" spc="110">
                <a:latin typeface="Times New Roman"/>
                <a:cs typeface="Times New Roman"/>
              </a:rPr>
              <a:t>confusion</a:t>
            </a:r>
            <a:r>
              <a:rPr dirty="0" sz="1450" spc="90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with</a:t>
            </a:r>
            <a:r>
              <a:rPr dirty="0" sz="1450" spc="9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neighboring</a:t>
            </a:r>
            <a:r>
              <a:rPr dirty="0" sz="1450" spc="90">
                <a:latin typeface="Times New Roman"/>
                <a:cs typeface="Times New Roman"/>
              </a:rPr>
              <a:t> classes.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>
              <a:lnSpc>
                <a:spcPts val="1660"/>
              </a:lnSpc>
            </a:pPr>
            <a:r>
              <a:rPr dirty="0" sz="1450" spc="135">
                <a:latin typeface="Times New Roman"/>
                <a:cs typeface="Times New Roman"/>
              </a:rPr>
              <a:t>The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macro</a:t>
            </a:r>
            <a:r>
              <a:rPr dirty="0" sz="1450" spc="100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average</a:t>
            </a:r>
            <a:r>
              <a:rPr dirty="0" sz="1450" spc="95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F1-score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of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10" b="1">
                <a:latin typeface="Times New Roman"/>
                <a:cs typeface="Times New Roman"/>
              </a:rPr>
              <a:t>0.70</a:t>
            </a:r>
            <a:r>
              <a:rPr dirty="0" sz="1450" spc="85" b="1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indicates</a:t>
            </a:r>
            <a:r>
              <a:rPr dirty="0" sz="1450" spc="90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balanced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performance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across </a:t>
            </a:r>
            <a:r>
              <a:rPr dirty="0" sz="1450" spc="90">
                <a:latin typeface="Times New Roman"/>
                <a:cs typeface="Times New Roman"/>
              </a:rPr>
              <a:t>classes.</a:t>
            </a:r>
            <a:r>
              <a:rPr dirty="0" sz="1450" spc="500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These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90">
                <a:latin typeface="Times New Roman"/>
                <a:cs typeface="Times New Roman"/>
              </a:rPr>
              <a:t>results,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together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with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75">
                <a:latin typeface="Times New Roman"/>
                <a:cs typeface="Times New Roman"/>
              </a:rPr>
              <a:t>ROC–AUC</a:t>
            </a:r>
            <a:r>
              <a:rPr dirty="0" sz="1450" spc="90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and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confusion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10">
                <a:latin typeface="Times New Roman"/>
                <a:cs typeface="Times New Roman"/>
              </a:rPr>
              <a:t>matrix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analysis,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30">
                <a:latin typeface="Times New Roman"/>
                <a:cs typeface="Times New Roman"/>
              </a:rPr>
              <a:t>show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that</a:t>
            </a:r>
            <a:r>
              <a:rPr dirty="0" sz="1450" spc="80">
                <a:latin typeface="Times New Roman"/>
                <a:cs typeface="Times New Roman"/>
              </a:rPr>
              <a:t> </a:t>
            </a:r>
            <a:r>
              <a:rPr dirty="0" sz="1450" spc="85">
                <a:latin typeface="Times New Roman"/>
                <a:cs typeface="Times New Roman"/>
              </a:rPr>
              <a:t>the </a:t>
            </a:r>
            <a:r>
              <a:rPr dirty="0" sz="1450" spc="130">
                <a:latin typeface="Times New Roman"/>
                <a:cs typeface="Times New Roman"/>
              </a:rPr>
              <a:t>model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effectively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learns</a:t>
            </a:r>
            <a:r>
              <a:rPr dirty="0" sz="1450" spc="95">
                <a:latin typeface="Times New Roman"/>
                <a:cs typeface="Times New Roman"/>
              </a:rPr>
              <a:t> </a:t>
            </a:r>
            <a:r>
              <a:rPr dirty="0" sz="1450" spc="105">
                <a:latin typeface="Times New Roman"/>
                <a:cs typeface="Times New Roman"/>
              </a:rPr>
              <a:t>discriminative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00">
                <a:latin typeface="Times New Roman"/>
                <a:cs typeface="Times New Roman"/>
              </a:rPr>
              <a:t>features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but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95">
                <a:latin typeface="Times New Roman"/>
                <a:cs typeface="Times New Roman"/>
              </a:rPr>
              <a:t>suffers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25">
                <a:latin typeface="Times New Roman"/>
                <a:cs typeface="Times New Roman"/>
              </a:rPr>
              <a:t>from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114">
                <a:latin typeface="Times New Roman"/>
                <a:cs typeface="Times New Roman"/>
              </a:rPr>
              <a:t>moderate</a:t>
            </a:r>
            <a:r>
              <a:rPr dirty="0" sz="1450" spc="95">
                <a:latin typeface="Times New Roman"/>
                <a:cs typeface="Times New Roman"/>
              </a:rPr>
              <a:t> overfitting</a:t>
            </a:r>
            <a:r>
              <a:rPr dirty="0" sz="1450" spc="85">
                <a:latin typeface="Times New Roman"/>
                <a:cs typeface="Times New Roman"/>
              </a:rPr>
              <a:t> </a:t>
            </a:r>
            <a:r>
              <a:rPr dirty="0" sz="1450" spc="95">
                <a:latin typeface="Times New Roman"/>
                <a:cs typeface="Times New Roman"/>
              </a:rPr>
              <a:t>and </a:t>
            </a:r>
            <a:r>
              <a:rPr dirty="0" sz="1450" spc="100">
                <a:latin typeface="Times New Roman"/>
                <a:cs typeface="Times New Roman"/>
              </a:rPr>
              <a:t>class</a:t>
            </a:r>
            <a:r>
              <a:rPr dirty="0" sz="1450" spc="75">
                <a:latin typeface="Times New Roman"/>
                <a:cs typeface="Times New Roman"/>
              </a:rPr>
              <a:t> </a:t>
            </a:r>
            <a:r>
              <a:rPr dirty="0" sz="1450" spc="120">
                <a:latin typeface="Times New Roman"/>
                <a:cs typeface="Times New Roman"/>
              </a:rPr>
              <a:t>imbalance</a:t>
            </a:r>
            <a:r>
              <a:rPr dirty="0" sz="1450" spc="70">
                <a:latin typeface="Times New Roman"/>
                <a:cs typeface="Times New Roman"/>
              </a:rPr>
              <a:t> </a:t>
            </a:r>
            <a:r>
              <a:rPr dirty="0" sz="1450" spc="85">
                <a:latin typeface="Times New Roman"/>
                <a:cs typeface="Times New Roman"/>
              </a:rPr>
              <a:t>issues.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9192" y="5149193"/>
            <a:ext cx="7876540" cy="127000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700" spc="114" b="1">
                <a:solidFill>
                  <a:srgbClr val="365F91"/>
                </a:solidFill>
                <a:latin typeface="Calibri"/>
                <a:cs typeface="Calibri"/>
              </a:rPr>
              <a:t>6.</a:t>
            </a:r>
            <a:r>
              <a:rPr dirty="0" sz="1700" spc="5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700" spc="130" b="1">
                <a:solidFill>
                  <a:srgbClr val="365F91"/>
                </a:solidFill>
                <a:latin typeface="Calibri"/>
                <a:cs typeface="Calibri"/>
              </a:rPr>
              <a:t>Overall</a:t>
            </a:r>
            <a:r>
              <a:rPr dirty="0" sz="1700" spc="7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700" spc="110" b="1">
                <a:solidFill>
                  <a:srgbClr val="365F91"/>
                </a:solidFill>
                <a:latin typeface="Calibri"/>
                <a:cs typeface="Calibri"/>
              </a:rPr>
              <a:t>Interpretation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15100"/>
              </a:lnSpc>
              <a:spcBef>
                <a:spcPts val="150"/>
              </a:spcBef>
            </a:pPr>
            <a:r>
              <a:rPr dirty="0" sz="1300" spc="114">
                <a:latin typeface="Cambria"/>
                <a:cs typeface="Cambria"/>
              </a:rPr>
              <a:t>Strengths: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30">
                <a:latin typeface="Cambria"/>
                <a:cs typeface="Cambria"/>
              </a:rPr>
              <a:t>High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110">
                <a:latin typeface="Cambria"/>
                <a:cs typeface="Cambria"/>
              </a:rPr>
              <a:t>training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accuracy,</a:t>
            </a:r>
            <a:r>
              <a:rPr dirty="0" sz="1300" spc="6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strong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160">
                <a:latin typeface="Cambria"/>
                <a:cs typeface="Cambria"/>
              </a:rPr>
              <a:t>ROC–AUC</a:t>
            </a:r>
            <a:r>
              <a:rPr dirty="0" sz="1300" spc="60">
                <a:latin typeface="Cambria"/>
                <a:cs typeface="Cambria"/>
              </a:rPr>
              <a:t> </a:t>
            </a:r>
            <a:r>
              <a:rPr dirty="0" sz="1300" spc="125">
                <a:latin typeface="Cambria"/>
                <a:cs typeface="Cambria"/>
              </a:rPr>
              <a:t>performance,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140">
                <a:latin typeface="Cambria"/>
                <a:cs typeface="Cambria"/>
              </a:rPr>
              <a:t>good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prediction</a:t>
            </a:r>
            <a:r>
              <a:rPr dirty="0" sz="1300" spc="65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for</a:t>
            </a:r>
            <a:r>
              <a:rPr dirty="0" sz="1300" spc="6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severe </a:t>
            </a:r>
            <a:r>
              <a:rPr dirty="0" sz="1300" spc="90">
                <a:latin typeface="Cambria"/>
                <a:cs typeface="Cambria"/>
              </a:rPr>
              <a:t>classes.</a:t>
            </a:r>
            <a:endParaRPr sz="1300">
              <a:latin typeface="Cambria"/>
              <a:cs typeface="Cambria"/>
            </a:endParaRPr>
          </a:p>
          <a:p>
            <a:pPr marL="12700" marR="974090">
              <a:lnSpc>
                <a:spcPts val="1789"/>
              </a:lnSpc>
              <a:spcBef>
                <a:spcPts val="85"/>
              </a:spcBef>
            </a:pPr>
            <a:r>
              <a:rPr dirty="0" sz="1300" spc="130">
                <a:latin typeface="Cambria"/>
                <a:cs typeface="Cambria"/>
              </a:rPr>
              <a:t>Weaknesses: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05">
                <a:latin typeface="Cambria"/>
                <a:cs typeface="Cambria"/>
              </a:rPr>
              <a:t>Overfitting,</a:t>
            </a:r>
            <a:r>
              <a:rPr dirty="0" sz="1300" spc="85">
                <a:latin typeface="Cambria"/>
                <a:cs typeface="Cambria"/>
              </a:rPr>
              <a:t> </a:t>
            </a:r>
            <a:r>
              <a:rPr dirty="0" sz="1300" spc="130">
                <a:latin typeface="Cambria"/>
                <a:cs typeface="Cambria"/>
              </a:rPr>
              <a:t>lower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10">
                <a:latin typeface="Cambria"/>
                <a:cs typeface="Cambria"/>
              </a:rPr>
              <a:t>validation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accuracy,</a:t>
            </a:r>
            <a:r>
              <a:rPr dirty="0" sz="1300" spc="60">
                <a:latin typeface="Cambria"/>
                <a:cs typeface="Cambria"/>
              </a:rPr>
              <a:t> </a:t>
            </a:r>
            <a:r>
              <a:rPr dirty="0" sz="1300" spc="120">
                <a:latin typeface="Cambria"/>
                <a:cs typeface="Cambria"/>
              </a:rPr>
              <a:t>confusion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in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25">
                <a:latin typeface="Cambria"/>
                <a:cs typeface="Cambria"/>
              </a:rPr>
              <a:t>middle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90">
                <a:latin typeface="Cambria"/>
                <a:cs typeface="Cambria"/>
              </a:rPr>
              <a:t>classes. </a:t>
            </a:r>
            <a:r>
              <a:rPr dirty="0" sz="1300" spc="105">
                <a:latin typeface="Cambria"/>
                <a:cs typeface="Cambria"/>
              </a:rPr>
              <a:t>Overall,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20">
                <a:latin typeface="Cambria"/>
                <a:cs typeface="Cambria"/>
              </a:rPr>
              <a:t>the</a:t>
            </a:r>
            <a:r>
              <a:rPr dirty="0" sz="1300" spc="55">
                <a:latin typeface="Cambria"/>
                <a:cs typeface="Cambria"/>
              </a:rPr>
              <a:t> </a:t>
            </a:r>
            <a:r>
              <a:rPr dirty="0" sz="1300" spc="140">
                <a:latin typeface="Cambria"/>
                <a:cs typeface="Cambria"/>
              </a:rPr>
              <a:t>model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10">
                <a:latin typeface="Cambria"/>
                <a:cs typeface="Cambria"/>
              </a:rPr>
              <a:t>learns</a:t>
            </a:r>
            <a:r>
              <a:rPr dirty="0" sz="1300" spc="55">
                <a:latin typeface="Cambria"/>
                <a:cs typeface="Cambria"/>
              </a:rPr>
              <a:t> </a:t>
            </a:r>
            <a:r>
              <a:rPr dirty="0" sz="1300" spc="125">
                <a:latin typeface="Cambria"/>
                <a:cs typeface="Cambria"/>
              </a:rPr>
              <a:t>meaningful</a:t>
            </a:r>
            <a:r>
              <a:rPr dirty="0" sz="1300" spc="75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patterns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125">
                <a:latin typeface="Cambria"/>
                <a:cs typeface="Cambria"/>
              </a:rPr>
              <a:t>but</a:t>
            </a:r>
            <a:r>
              <a:rPr dirty="0" sz="1300" spc="7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requires</a:t>
            </a:r>
            <a:r>
              <a:rPr dirty="0" sz="1300" spc="80">
                <a:latin typeface="Cambria"/>
                <a:cs typeface="Cambria"/>
              </a:rPr>
              <a:t> </a:t>
            </a:r>
            <a:r>
              <a:rPr dirty="0" sz="1300" spc="114">
                <a:latin typeface="Cambria"/>
                <a:cs typeface="Cambria"/>
              </a:rPr>
              <a:t>better</a:t>
            </a:r>
            <a:r>
              <a:rPr dirty="0" sz="1300" spc="55">
                <a:latin typeface="Cambria"/>
                <a:cs typeface="Cambria"/>
              </a:rPr>
              <a:t> </a:t>
            </a:r>
            <a:r>
              <a:rPr dirty="0" sz="1300" spc="100">
                <a:latin typeface="Cambria"/>
                <a:cs typeface="Cambria"/>
              </a:rPr>
              <a:t>generalization.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092" y="1264177"/>
            <a:ext cx="3774213" cy="39946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4846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 sz="3200" spc="-110">
                <a:latin typeface="Arial"/>
                <a:cs typeface="Arial"/>
              </a:rPr>
              <a:t>Current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145">
                <a:latin typeface="Arial"/>
                <a:cs typeface="Arial"/>
              </a:rPr>
              <a:t>Progress:-</a:t>
            </a:r>
            <a:r>
              <a:rPr dirty="0" sz="3200" spc="-100">
                <a:latin typeface="Arial"/>
                <a:cs typeface="Arial"/>
              </a:rPr>
              <a:t> </a:t>
            </a:r>
            <a:r>
              <a:rPr dirty="0" sz="2800" spc="-80"/>
              <a:t>Efficienct</a:t>
            </a:r>
            <a:r>
              <a:rPr dirty="0" sz="2800" spc="-65"/>
              <a:t> </a:t>
            </a:r>
            <a:r>
              <a:rPr dirty="0" sz="2800" spc="-25"/>
              <a:t>net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2930" y="1171146"/>
            <a:ext cx="5225653" cy="4723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451" y="1110900"/>
            <a:ext cx="4732095" cy="34119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0364" y="1116211"/>
            <a:ext cx="4377476" cy="33656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43406" y="4583048"/>
            <a:ext cx="9088120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0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10">
                <a:latin typeface="Tahoma"/>
                <a:cs typeface="Tahoma"/>
              </a:rPr>
              <a:t>The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105">
                <a:latin typeface="Tahoma"/>
                <a:cs typeface="Tahoma"/>
              </a:rPr>
              <a:t>ROC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curve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shows strong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overall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classification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performance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across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most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classes.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55">
                <a:latin typeface="Tahoma"/>
                <a:cs typeface="Tahoma"/>
              </a:rPr>
              <a:t>Achieved</a:t>
            </a:r>
            <a:r>
              <a:rPr dirty="0" sz="1400" spc="-95">
                <a:latin typeface="Tahoma"/>
                <a:cs typeface="Tahoma"/>
              </a:rPr>
              <a:t> </a:t>
            </a:r>
            <a:r>
              <a:rPr dirty="0" sz="1400" spc="50">
                <a:latin typeface="Tahoma"/>
                <a:cs typeface="Tahoma"/>
              </a:rPr>
              <a:t>high</a:t>
            </a:r>
            <a:r>
              <a:rPr dirty="0" sz="1400" spc="-85">
                <a:latin typeface="Tahoma"/>
                <a:cs typeface="Tahoma"/>
              </a:rPr>
              <a:t> </a:t>
            </a:r>
            <a:r>
              <a:rPr dirty="0" sz="1400" spc="120">
                <a:latin typeface="Tahoma"/>
                <a:cs typeface="Tahoma"/>
              </a:rPr>
              <a:t>AUC</a:t>
            </a:r>
            <a:r>
              <a:rPr dirty="0" sz="1400" spc="-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values</a:t>
            </a:r>
            <a:r>
              <a:rPr dirty="0" sz="1400" spc="-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for</a:t>
            </a:r>
            <a:r>
              <a:rPr dirty="0" sz="1400" spc="-7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majority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of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classes:</a:t>
            </a:r>
            <a:endParaRPr sz="14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dirty="0" sz="1400">
                <a:latin typeface="Tahoma"/>
                <a:cs typeface="Tahoma"/>
              </a:rPr>
              <a:t>Class</a:t>
            </a:r>
            <a:r>
              <a:rPr dirty="0" sz="1400" spc="-1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0: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0.85</a:t>
            </a:r>
            <a:endParaRPr sz="14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dirty="0" sz="1400">
                <a:latin typeface="Tahoma"/>
                <a:cs typeface="Tahoma"/>
              </a:rPr>
              <a:t>Class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2: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0.86</a:t>
            </a:r>
            <a:endParaRPr sz="14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dirty="0" sz="1400">
                <a:latin typeface="Tahoma"/>
                <a:cs typeface="Tahoma"/>
              </a:rPr>
              <a:t>Class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3: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0.95</a:t>
            </a:r>
            <a:endParaRPr sz="14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dirty="0" sz="1400">
                <a:latin typeface="Tahoma"/>
                <a:cs typeface="Tahoma"/>
              </a:rPr>
              <a:t>Class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4: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1.00</a:t>
            </a:r>
            <a:r>
              <a:rPr dirty="0" sz="1400" spc="15" b="1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(near-</a:t>
            </a:r>
            <a:r>
              <a:rPr dirty="0" sz="1400">
                <a:latin typeface="Tahoma"/>
                <a:cs typeface="Tahoma"/>
              </a:rPr>
              <a:t>perfect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separability)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>
                <a:latin typeface="Tahoma"/>
                <a:cs typeface="Tahoma"/>
              </a:rPr>
              <a:t>Class</a:t>
            </a:r>
            <a:r>
              <a:rPr dirty="0" sz="1400" spc="8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1</a:t>
            </a:r>
            <a:r>
              <a:rPr dirty="0" sz="1400" spc="7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shows</a:t>
            </a:r>
            <a:r>
              <a:rPr dirty="0" sz="1400" spc="8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comparatively</a:t>
            </a:r>
            <a:r>
              <a:rPr dirty="0" sz="1400" spc="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lower</a:t>
            </a:r>
            <a:r>
              <a:rPr dirty="0" sz="1400" spc="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performance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(</a:t>
            </a:r>
            <a:r>
              <a:rPr dirty="0" sz="1400" spc="-10" b="1">
                <a:latin typeface="Tahoma"/>
                <a:cs typeface="Tahoma"/>
              </a:rPr>
              <a:t>AUC</a:t>
            </a:r>
            <a:r>
              <a:rPr dirty="0" sz="1400" spc="95" b="1">
                <a:latin typeface="Tahoma"/>
                <a:cs typeface="Tahoma"/>
              </a:rPr>
              <a:t> </a:t>
            </a:r>
            <a:r>
              <a:rPr dirty="0" sz="1400" spc="-225" b="1">
                <a:latin typeface="Tahoma"/>
                <a:cs typeface="Tahoma"/>
              </a:rPr>
              <a:t>=</a:t>
            </a:r>
            <a:r>
              <a:rPr dirty="0" sz="1400" spc="114" b="1">
                <a:latin typeface="Tahoma"/>
                <a:cs typeface="Tahoma"/>
              </a:rPr>
              <a:t> </a:t>
            </a:r>
            <a:r>
              <a:rPr dirty="0" sz="1400" spc="-30" b="1">
                <a:latin typeface="Tahoma"/>
                <a:cs typeface="Tahoma"/>
              </a:rPr>
              <a:t>0.68</a:t>
            </a:r>
            <a:r>
              <a:rPr dirty="0" sz="1400" spc="-30">
                <a:latin typeface="Tahoma"/>
                <a:cs typeface="Tahoma"/>
              </a:rPr>
              <a:t>),</a:t>
            </a:r>
            <a:r>
              <a:rPr dirty="0" sz="1400" spc="-2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indicating</a:t>
            </a:r>
            <a:r>
              <a:rPr dirty="0" sz="1400" spc="3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room</a:t>
            </a:r>
            <a:r>
              <a:rPr dirty="0" sz="1400" spc="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for</a:t>
            </a:r>
            <a:r>
              <a:rPr dirty="0" sz="1400" spc="5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improvement.</a:t>
            </a:r>
            <a:endParaRPr sz="1400">
              <a:latin typeface="Tahoma"/>
              <a:cs typeface="Tahoma"/>
            </a:endParaRPr>
          </a:p>
          <a:p>
            <a:pPr marL="12700" marR="5080" indent="-762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dirty="0" sz="1400" spc="10">
                <a:latin typeface="Tahoma"/>
                <a:cs typeface="Tahoma"/>
              </a:rPr>
              <a:t>	</a:t>
            </a:r>
            <a:r>
              <a:rPr dirty="0" sz="1400" spc="10">
                <a:latin typeface="Tahoma"/>
                <a:cs typeface="Tahoma"/>
              </a:rPr>
              <a:t>Overall,</a:t>
            </a:r>
            <a:r>
              <a:rPr dirty="0" sz="1400" spc="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EfficientNet</a:t>
            </a:r>
            <a:r>
              <a:rPr dirty="0" sz="1400" spc="2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demonstrates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strong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discriminative</a:t>
            </a:r>
            <a:r>
              <a:rPr dirty="0" sz="1400" spc="5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capability</a:t>
            </a:r>
            <a:r>
              <a:rPr dirty="0" sz="1400" spc="4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with</a:t>
            </a:r>
            <a:r>
              <a:rPr dirty="0" sz="1400" spc="6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excellent</a:t>
            </a:r>
            <a:r>
              <a:rPr dirty="0" sz="1400" spc="4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performance</a:t>
            </a:r>
            <a:r>
              <a:rPr dirty="0" sz="1400" spc="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in</a:t>
            </a:r>
            <a:r>
              <a:rPr dirty="0" sz="1400" spc="7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higher-</a:t>
            </a:r>
            <a:r>
              <a:rPr dirty="0" sz="1400" spc="-10">
                <a:latin typeface="Tahoma"/>
                <a:cs typeface="Tahoma"/>
              </a:rPr>
              <a:t>severity classes.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628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EfficientNet</a:t>
            </a:r>
            <a:r>
              <a:rPr dirty="0" spc="-60"/>
              <a:t> </a:t>
            </a:r>
            <a:r>
              <a:rPr dirty="0" spc="-440"/>
              <a:t>–</a:t>
            </a:r>
            <a:r>
              <a:rPr dirty="0" spc="-55"/>
              <a:t> </a:t>
            </a:r>
            <a:r>
              <a:rPr dirty="0" spc="-50"/>
              <a:t>ROC–AUC</a:t>
            </a:r>
            <a:r>
              <a:rPr dirty="0" spc="-80"/>
              <a:t> </a:t>
            </a:r>
            <a:r>
              <a:rPr dirty="0" spc="-10"/>
              <a:t>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29741" y="1339418"/>
            <a:ext cx="10316210" cy="5191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330"/>
              </a:lnSpc>
              <a:spcBef>
                <a:spcPts val="105"/>
              </a:spcBef>
            </a:pPr>
            <a:r>
              <a:rPr dirty="0" sz="2000" spc="-25" b="1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12700" marR="905510">
              <a:lnSpc>
                <a:spcPts val="2400"/>
              </a:lnSpc>
              <a:spcBef>
                <a:spcPts val="10"/>
              </a:spcBef>
            </a:pPr>
            <a:r>
              <a:rPr dirty="0" sz="2000" spc="-10" b="1">
                <a:latin typeface="Times New Roman"/>
                <a:cs typeface="Times New Roman"/>
              </a:rPr>
              <a:t>Bortoluzzi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A,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Furini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85" b="1">
                <a:latin typeface="Times New Roman"/>
                <a:cs typeface="Times New Roman"/>
              </a:rPr>
              <a:t>F,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Scirè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CA.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Osteoarthritis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management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10" b="1">
                <a:latin typeface="Times New Roman"/>
                <a:cs typeface="Times New Roman"/>
              </a:rPr>
              <a:t> Epidemiology, </a:t>
            </a:r>
            <a:r>
              <a:rPr dirty="0" sz="2000" b="1">
                <a:latin typeface="Times New Roman"/>
                <a:cs typeface="Times New Roman"/>
              </a:rPr>
              <a:t>nutritional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aspects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environmental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factors.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Autoimmun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Rev.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2018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Nov;17(11):1097- 1104.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3"/>
              </a:rPr>
              <a:t>PubMed</a:t>
            </a:r>
            <a:r>
              <a:rPr dirty="0" sz="2000" spc="-10" b="1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65"/>
              </a:spcBef>
            </a:pPr>
            <a:r>
              <a:rPr dirty="0" sz="2000" spc="-25" b="1">
                <a:latin typeface="Times New Roman"/>
                <a:cs typeface="Times New Roman"/>
              </a:rPr>
              <a:t>2.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dirty="0" sz="2000" spc="-10" b="1">
                <a:latin typeface="Times New Roman"/>
                <a:cs typeface="Times New Roman"/>
              </a:rPr>
              <a:t>Miller</a:t>
            </a:r>
            <a:r>
              <a:rPr dirty="0" sz="2000" spc="-1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Lutsky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45" b="1">
                <a:latin typeface="Times New Roman"/>
                <a:cs typeface="Times New Roman"/>
              </a:rPr>
              <a:t>KF,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Shearin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J,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Cantlon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M,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Wolfe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S,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Beredjiklian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PK.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Radiographic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Patterns</a:t>
            </a:r>
            <a:endParaRPr sz="2000">
              <a:latin typeface="Times New Roman"/>
              <a:cs typeface="Times New Roman"/>
            </a:endParaRPr>
          </a:p>
          <a:p>
            <a:pPr marL="12700" marR="105854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Radiocarpal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Midcarpal</a:t>
            </a:r>
            <a:r>
              <a:rPr dirty="0" sz="2000" spc="-1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Arthritis.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J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Am</a:t>
            </a:r>
            <a:r>
              <a:rPr dirty="0" sz="2000" spc="-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Acad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Orthop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Surg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Glob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Res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Rev. </a:t>
            </a:r>
            <a:r>
              <a:rPr dirty="0" sz="2000" spc="-20" b="1">
                <a:latin typeface="Times New Roman"/>
                <a:cs typeface="Times New Roman"/>
              </a:rPr>
              <a:t>2017 </a:t>
            </a:r>
            <a:r>
              <a:rPr dirty="0" sz="2000" b="1">
                <a:latin typeface="Times New Roman"/>
                <a:cs typeface="Times New Roman"/>
              </a:rPr>
              <a:t>Jun;1(3):e017.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PMC</a:t>
            </a:r>
            <a:r>
              <a:rPr dirty="0" u="sng" sz="2000" spc="-35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free</a:t>
            </a:r>
            <a:r>
              <a:rPr dirty="0" u="sng" sz="2000" spc="-45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article</a:t>
            </a:r>
            <a:r>
              <a:rPr dirty="0" sz="2000" b="1">
                <a:latin typeface="Times New Roman"/>
                <a:cs typeface="Times New Roman"/>
              </a:rPr>
              <a:t>]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5"/>
              </a:rPr>
              <a:t>PubMed</a:t>
            </a:r>
            <a:r>
              <a:rPr dirty="0" sz="2000" spc="-10" b="1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145"/>
              </a:spcBef>
            </a:pPr>
            <a:r>
              <a:rPr dirty="0" sz="2000" spc="-25" b="1"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dirty="0" sz="2000" b="1">
                <a:latin typeface="Times New Roman"/>
                <a:cs typeface="Times New Roman"/>
              </a:rPr>
              <a:t>Berenbaum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5" b="1">
                <a:latin typeface="Times New Roman"/>
                <a:cs typeface="Times New Roman"/>
              </a:rPr>
              <a:t>F,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Wallace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IJ,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Lieberman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DE,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Felson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DT.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Modern-</a:t>
            </a:r>
            <a:r>
              <a:rPr dirty="0" sz="2000" b="1">
                <a:latin typeface="Times New Roman"/>
                <a:cs typeface="Times New Roman"/>
              </a:rPr>
              <a:t>day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environmental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factors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pathogenesis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osteoarthritis.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Nat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Rev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Rheumatol.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2018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Nov;14(11):674-</a:t>
            </a:r>
            <a:r>
              <a:rPr dirty="0" sz="2000" b="1">
                <a:latin typeface="Times New Roman"/>
                <a:cs typeface="Times New Roman"/>
              </a:rPr>
              <a:t>681.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6"/>
              </a:rPr>
              <a:t>PubMed</a:t>
            </a:r>
            <a:r>
              <a:rPr dirty="0" sz="2000" spc="-10" b="1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145"/>
              </a:spcBef>
            </a:pPr>
            <a:r>
              <a:rPr dirty="0" sz="2000" spc="-25" b="1">
                <a:latin typeface="Times New Roman"/>
                <a:cs typeface="Times New Roman"/>
              </a:rPr>
              <a:t>4.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400"/>
              </a:lnSpc>
              <a:spcBef>
                <a:spcPts val="10"/>
              </a:spcBef>
            </a:pPr>
            <a:r>
              <a:rPr dirty="0" sz="2000" b="1">
                <a:latin typeface="Times New Roman"/>
                <a:cs typeface="Times New Roman"/>
              </a:rPr>
              <a:t>Donahue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35" b="1">
                <a:latin typeface="Times New Roman"/>
                <a:cs typeface="Times New Roman"/>
              </a:rPr>
              <a:t>SW.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Krogh's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principle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musculoskeletal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physiology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pathology.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J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Musculoskelet </a:t>
            </a:r>
            <a:r>
              <a:rPr dirty="0" sz="2000" b="1">
                <a:latin typeface="Times New Roman"/>
                <a:cs typeface="Times New Roman"/>
              </a:rPr>
              <a:t>Neuronal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Interact.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2018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Sep</a:t>
            </a:r>
            <a:r>
              <a:rPr dirty="0" sz="2000" spc="-10" b="1">
                <a:latin typeface="Times New Roman"/>
                <a:cs typeface="Times New Roman"/>
              </a:rPr>
              <a:t> 01;18(3):284-</a:t>
            </a:r>
            <a:r>
              <a:rPr dirty="0" sz="2000" b="1">
                <a:latin typeface="Times New Roman"/>
                <a:cs typeface="Times New Roman"/>
              </a:rPr>
              <a:t>291.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PMC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free</a:t>
            </a:r>
            <a:r>
              <a:rPr dirty="0" u="sng" sz="2000" spc="-15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article</a:t>
            </a:r>
            <a:r>
              <a:rPr dirty="0" sz="2000" b="1">
                <a:latin typeface="Times New Roman"/>
                <a:cs typeface="Times New Roman"/>
              </a:rPr>
              <a:t>]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8"/>
              </a:rPr>
              <a:t>PubMed</a:t>
            </a:r>
            <a:r>
              <a:rPr dirty="0" sz="2000" spc="-10" b="1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65"/>
              </a:spcBef>
            </a:pPr>
            <a:r>
              <a:rPr dirty="0" sz="2000" spc="-25" b="1">
                <a:latin typeface="Times New Roman"/>
                <a:cs typeface="Times New Roman"/>
              </a:rPr>
              <a:t>5.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dirty="0" sz="2000" spc="-10" b="1">
                <a:latin typeface="Times New Roman"/>
                <a:cs typeface="Times New Roman"/>
              </a:rPr>
              <a:t>Krishnan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spc="-80" b="1">
                <a:latin typeface="Times New Roman"/>
                <a:cs typeface="Times New Roman"/>
              </a:rPr>
              <a:t>Y,</a:t>
            </a:r>
            <a:r>
              <a:rPr dirty="0" sz="200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Grodzinsky</a:t>
            </a:r>
            <a:r>
              <a:rPr dirty="0" sz="2000" spc="-1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AJ.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Cartilage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diseases.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Matrix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Biol. 2018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Oct;71-</a:t>
            </a:r>
            <a:r>
              <a:rPr dirty="0" sz="2000" spc="-10" b="1">
                <a:latin typeface="Times New Roman"/>
                <a:cs typeface="Times New Roman"/>
              </a:rPr>
              <a:t>72:51-</a:t>
            </a:r>
            <a:r>
              <a:rPr dirty="0" sz="2000" b="1">
                <a:latin typeface="Times New Roman"/>
                <a:cs typeface="Times New Roman"/>
              </a:rPr>
              <a:t>69.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</a:t>
            </a: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PMC</a:t>
            </a:r>
            <a:r>
              <a:rPr dirty="0" u="sng" sz="2000" spc="-15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2000" spc="-2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free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200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article</a:t>
            </a:r>
            <a:r>
              <a:rPr dirty="0" sz="2000" b="1">
                <a:latin typeface="Times New Roman"/>
                <a:cs typeface="Times New Roman"/>
              </a:rPr>
              <a:t>]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</a:t>
            </a:r>
            <a:r>
              <a:rPr dirty="0" u="sng" sz="2000" spc="-10" b="1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10"/>
              </a:rPr>
              <a:t>PubMed</a:t>
            </a:r>
            <a:r>
              <a:rPr dirty="0" sz="2000" spc="-10" b="1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9741" y="773430"/>
            <a:ext cx="33172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445" i="1">
                <a:latin typeface="Verdana"/>
                <a:cs typeface="Verdana"/>
              </a:rPr>
              <a:t>Refereneces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33957" y="1919097"/>
            <a:ext cx="9936480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105"/>
              </a:spcBef>
            </a:pPr>
            <a:r>
              <a:rPr dirty="0" sz="3200" spc="-365" b="1" i="1">
                <a:solidFill>
                  <a:srgbClr val="121522"/>
                </a:solidFill>
                <a:latin typeface="Verdana"/>
                <a:cs typeface="Verdana"/>
              </a:rPr>
              <a:t>Thank</a:t>
            </a:r>
            <a:r>
              <a:rPr dirty="0" sz="3200" spc="-27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10" b="1" i="1">
                <a:solidFill>
                  <a:srgbClr val="121522"/>
                </a:solidFill>
                <a:latin typeface="Verdana"/>
                <a:cs typeface="Verdana"/>
              </a:rPr>
              <a:t>you</a:t>
            </a:r>
            <a:endParaRPr sz="3200">
              <a:latin typeface="Verdana"/>
              <a:cs typeface="Verdana"/>
            </a:endParaRPr>
          </a:p>
          <a:p>
            <a:pPr algn="ctr" marL="12700" marR="5080" indent="-13970">
              <a:lnSpc>
                <a:spcPct val="100000"/>
              </a:lnSpc>
            </a:pPr>
            <a:r>
              <a:rPr dirty="0" sz="3200" spc="-260" b="1" i="1">
                <a:solidFill>
                  <a:srgbClr val="121522"/>
                </a:solidFill>
                <a:latin typeface="Verdana"/>
                <a:cs typeface="Verdana"/>
              </a:rPr>
              <a:t>for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10" b="1" i="1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54" b="1" i="1">
                <a:solidFill>
                  <a:srgbClr val="121522"/>
                </a:solidFill>
                <a:latin typeface="Verdana"/>
                <a:cs typeface="Verdana"/>
              </a:rPr>
              <a:t>guidance</a:t>
            </a:r>
            <a:r>
              <a:rPr dirty="0" sz="3200" spc="-28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70" b="1" i="1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 support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throughout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25" b="1" i="1">
                <a:solidFill>
                  <a:srgbClr val="121522"/>
                </a:solidFill>
                <a:latin typeface="Verdana"/>
                <a:cs typeface="Verdana"/>
              </a:rPr>
              <a:t>this </a:t>
            </a:r>
            <a:r>
              <a:rPr dirty="0" sz="3200" spc="-280" b="1" i="1">
                <a:solidFill>
                  <a:srgbClr val="121522"/>
                </a:solidFill>
                <a:latin typeface="Verdana"/>
                <a:cs typeface="Verdana"/>
              </a:rPr>
              <a:t>project.</a:t>
            </a:r>
            <a:r>
              <a:rPr dirty="0" sz="3200" spc="-46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80" b="1" i="1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dirty="0" sz="3200" spc="-29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insights</a:t>
            </a:r>
            <a:r>
              <a:rPr dirty="0" sz="3200" spc="-26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have</a:t>
            </a:r>
            <a:r>
              <a:rPr dirty="0" sz="3200" spc="-27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50" b="1" i="1">
                <a:solidFill>
                  <a:srgbClr val="121522"/>
                </a:solidFill>
                <a:latin typeface="Verdana"/>
                <a:cs typeface="Verdana"/>
              </a:rPr>
              <a:t>been</a:t>
            </a:r>
            <a:r>
              <a:rPr dirty="0" sz="3200" spc="-26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50" b="1" i="1">
                <a:solidFill>
                  <a:srgbClr val="121522"/>
                </a:solidFill>
                <a:latin typeface="Verdana"/>
                <a:cs typeface="Verdana"/>
              </a:rPr>
              <a:t>incredibly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180" b="1" i="1">
                <a:solidFill>
                  <a:srgbClr val="121522"/>
                </a:solidFill>
                <a:latin typeface="Verdana"/>
                <a:cs typeface="Verdana"/>
              </a:rPr>
              <a:t>helpful, </a:t>
            </a:r>
            <a:r>
              <a:rPr dirty="0" sz="3200" spc="-270" b="1" i="1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dirty="0" sz="3200" spc="-29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45" b="1" i="1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appreciate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the </a:t>
            </a:r>
            <a:r>
              <a:rPr dirty="0" sz="3200" spc="-260" b="1" i="1">
                <a:solidFill>
                  <a:srgbClr val="121522"/>
                </a:solidFill>
                <a:latin typeface="Verdana"/>
                <a:cs typeface="Verdana"/>
              </a:rPr>
              <a:t>opportunity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60" b="1" i="1">
                <a:solidFill>
                  <a:srgbClr val="121522"/>
                </a:solidFill>
                <a:latin typeface="Verdana"/>
                <a:cs typeface="Verdana"/>
              </a:rPr>
              <a:t>to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10" b="1" i="1">
                <a:solidFill>
                  <a:srgbClr val="121522"/>
                </a:solidFill>
                <a:latin typeface="Verdana"/>
                <a:cs typeface="Verdana"/>
              </a:rPr>
              <a:t>present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30" b="1" i="1">
                <a:solidFill>
                  <a:srgbClr val="121522"/>
                </a:solidFill>
                <a:latin typeface="Verdana"/>
                <a:cs typeface="Verdana"/>
              </a:rPr>
              <a:t>our </a:t>
            </a:r>
            <a:r>
              <a:rPr dirty="0" sz="3200" spc="-310" b="1" i="1">
                <a:solidFill>
                  <a:srgbClr val="121522"/>
                </a:solidFill>
                <a:latin typeface="Verdana"/>
                <a:cs typeface="Verdana"/>
              </a:rPr>
              <a:t>progress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today.</a:t>
            </a:r>
            <a:r>
              <a:rPr dirty="0" sz="3200" spc="-41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40" b="1" i="1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50" b="1" i="1">
                <a:solidFill>
                  <a:srgbClr val="121522"/>
                </a:solidFill>
                <a:latin typeface="Verdana"/>
                <a:cs typeface="Verdana"/>
              </a:rPr>
              <a:t>are</a:t>
            </a:r>
            <a:r>
              <a:rPr dirty="0" sz="3200" spc="-28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grateful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60" b="1" i="1">
                <a:solidFill>
                  <a:srgbClr val="121522"/>
                </a:solidFill>
                <a:latin typeface="Verdana"/>
                <a:cs typeface="Verdana"/>
              </a:rPr>
              <a:t>for</a:t>
            </a:r>
            <a:r>
              <a:rPr dirty="0" sz="3200" spc="-29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15" b="1" i="1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80" b="1" i="1">
                <a:solidFill>
                  <a:srgbClr val="121522"/>
                </a:solidFill>
                <a:latin typeface="Verdana"/>
                <a:cs typeface="Verdana"/>
              </a:rPr>
              <a:t>feedback </a:t>
            </a:r>
            <a:r>
              <a:rPr dirty="0" sz="3200" spc="-270" b="1" i="1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dirty="0" sz="3200" spc="-28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35" b="1" i="1">
                <a:solidFill>
                  <a:srgbClr val="121522"/>
                </a:solidFill>
                <a:latin typeface="Verdana"/>
                <a:cs typeface="Verdana"/>
              </a:rPr>
              <a:t>look</a:t>
            </a:r>
            <a:r>
              <a:rPr dirty="0" sz="3200" spc="-30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forward</a:t>
            </a:r>
            <a:r>
              <a:rPr dirty="0" sz="3200" spc="-29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60" b="1" i="1">
                <a:solidFill>
                  <a:srgbClr val="121522"/>
                </a:solidFill>
                <a:latin typeface="Verdana"/>
                <a:cs typeface="Verdana"/>
              </a:rPr>
              <a:t>to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70" b="1" i="1">
                <a:solidFill>
                  <a:srgbClr val="121522"/>
                </a:solidFill>
                <a:latin typeface="Verdana"/>
                <a:cs typeface="Verdana"/>
              </a:rPr>
              <a:t>incorporating</a:t>
            </a:r>
            <a:r>
              <a:rPr dirty="0" sz="3200" spc="-28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40" b="1" i="1">
                <a:solidFill>
                  <a:srgbClr val="121522"/>
                </a:solidFill>
                <a:latin typeface="Verdana"/>
                <a:cs typeface="Verdana"/>
              </a:rPr>
              <a:t>it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85" b="1" i="1">
                <a:solidFill>
                  <a:srgbClr val="121522"/>
                </a:solidFill>
                <a:latin typeface="Verdana"/>
                <a:cs typeface="Verdana"/>
              </a:rPr>
              <a:t>as</a:t>
            </a:r>
            <a:r>
              <a:rPr dirty="0" sz="3200" spc="-28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45" b="1" i="1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65" b="1" i="1">
                <a:solidFill>
                  <a:srgbClr val="121522"/>
                </a:solidFill>
                <a:latin typeface="Verdana"/>
                <a:cs typeface="Verdana"/>
              </a:rPr>
              <a:t>work </a:t>
            </a:r>
            <a:r>
              <a:rPr dirty="0" sz="3200" spc="-315" b="1" i="1">
                <a:solidFill>
                  <a:srgbClr val="121522"/>
                </a:solidFill>
                <a:latin typeface="Verdana"/>
                <a:cs typeface="Verdana"/>
              </a:rPr>
              <a:t>toward</a:t>
            </a:r>
            <a:r>
              <a:rPr dirty="0" sz="3200" spc="-29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05" b="1" i="1">
                <a:solidFill>
                  <a:srgbClr val="121522"/>
                </a:solidFill>
                <a:latin typeface="Verdana"/>
                <a:cs typeface="Verdana"/>
              </a:rPr>
              <a:t>our</a:t>
            </a:r>
            <a:r>
              <a:rPr dirty="0" sz="3200" spc="-290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250" b="1" i="1">
                <a:solidFill>
                  <a:srgbClr val="121522"/>
                </a:solidFill>
                <a:latin typeface="Verdana"/>
                <a:cs typeface="Verdana"/>
              </a:rPr>
              <a:t>final</a:t>
            </a:r>
            <a:r>
              <a:rPr dirty="0" sz="3200" spc="-275" b="1" i="1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dirty="0" sz="3200" spc="-315" b="1" i="1">
                <a:solidFill>
                  <a:srgbClr val="121522"/>
                </a:solidFill>
                <a:latin typeface="Verdana"/>
                <a:cs typeface="Verdana"/>
              </a:rPr>
              <a:t>submission.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238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SINGH</dc:creator>
  <dcterms:created xsi:type="dcterms:W3CDTF">2026-02-19T04:47:32Z</dcterms:created>
  <dcterms:modified xsi:type="dcterms:W3CDTF">2026-02-19T04:47:32Z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2026-02-19T00:00:00Z</vt:filetime>
  </property>
  <property fmtid="{D5CDD505-2E9C-101B-9397-08002B2CF9AE}" pid="5" name="Producer">
    <vt:lpwstr>Microsoft® PowerPoint® for Microsoft 365</vt:lpwstr>
  </property>
</Properties>
</file>